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70"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3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6170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Good morning everyone. Today we're presenting on Goal-Based Agents, one of the key agent types in Artificial Intelligence, and we're applying it to a real domain that affects everyone: healthcare diagnosis. By the end of this talk you'll understand exactly how an AI agent can think in terms of goals, weigh patient data, and choose the best treatment path — the same way a doctor reasons, but systematically.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Quick refresher: a simple reflex agent just reacts to what it sees right now — like a rule that fires an alert if fever crosses a threshold. A model-based agent keeps some memory of the world. But a goal-based agent is different — it doesn't just react, it looks ahead and asks, 'What sequence of actions gets me to my goal?' That's exactly the kind of reasoning a diagnostic system needs, because diagnosis is rarely a single lookup — it's a chain of steps toward a target outcome.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So what actually makes an agent 'goal-based'? Unlike a reflex agent, it carries an explicit goal in its design — a target state it wants to reach. It looks at different possible sequences of actions and picks the one that's predicted to reach that goal. The easiest way to relate to this is Google Maps: your destination is the goal, and the app searches through many possible routes before recommending one. A healthcare diagnostic agent does the same thing, except the 'destination' is a confirmed diagnosis or a stabilized patient.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Why does healthcare specifically benefit from this agent type? First, patient data is huge and constantly changing — vitals, history, labs, scans. Second, medicine already thinks in terms of goals: confirm a diagnosis, rule out something dangerous, stabilize the patient. Third, real diagnosis is almost never one step — it's a chain of tests and checks. And finally, every choice involves trade-offs between risk, time, and cost, which is exactly the kind of weighing a goal-based agent is built to 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This is the core architecture. Percepts — symptoms, vitals, history, labs — flow in and update the agent's internal state, which is basically its working model of the patient. The agent formulates a goal, such as confirming or ruling out a condition. It then plans by searching through possible sequences of tests and treatments, selects the best action, and sends it out through its actuators — meaning a recommendation to the clinical team. And importantly, this is a loop: every new piece of data can trigger the agent to re-plan.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The first real step is goal setting. The agent's goal is a specific target health outcome — not just 'figure out what's wrong' but something concrete like 'rule out a heart attack.' Goals get prioritized by urgency, so the most dangerous possibility is investigated first, and a big goal can split into smaller sub-goals. In our running example, a patient walks in with chest pain — the agent's first goal becomes 'identify or rule out a heart attack within 10 minutes,' and that goal shapes every decision that follows.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Once the goal is set, the agent needs data to work with. It pulls in vitals, the patient's history from the electronic health record, lab results, and imaging like ECG scans. All of this gets fused into one updated internal state. In our chest pain example, the ECG shows an abnormal rhythm, the troponin enzyme level is high, and blood pressure is dropping — so the agent's internal picture of the patient shifts strongly toward a heart attack.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How does the agent actually decide? It can use rule-based inference — simple if-then logic — Bayesian reasoning to update probabilities as new evidence arrives, decision trees that branch through clinical questions, or machine learning classifiers trained on historical patient data. In practice, a real system blends several of these, and it picks whichever diagnostic path best satisfies the current goal with the highest confidence and lowest risk — in our example, that path converges on Myocardial Infarction.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Diagnosis isn't the end — once the agent confirms the heart attack, it sets a new goal: the best treatment outcome for this patient. It compares options like immediate angioplasty, clot-dissolving medication, or simply observing, scoring each on speed, safety, and risk. In our example, immediate angioplasty best satisfies the goal because it's fast and lowest risk, so that's the pathway the agent recommends to the medical team.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None of this reasoning works without a solid data pipeline underneath it. Raw data is first ingested from devices and records, then cleaned — handling missing or noisy values. Useful features are extracted, combined with a medical knowledge base or trained ML model, and only then does the agent's reasoning layer act on it, producing the final recommendation. Think of this as the plumbing that keeps clean, structured information flowing into the agent's brain.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Let's connect every piece with one continuous story. The percept is chest pain, sweating, and dropping blood pressure. The agent's goal is to rule out a heart attack within 10 minutes. It evaluates the ECG, troponin level, and blood pressure trend, and decides the evidence strongly supports a heart attack. It then sets a new treatment goal focused on the best recovery outcome, and finally selects immediate angioplasty as the action — a complete, end-to-end run of the goal-based agent.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Like any approach, this has trade-offs. On the plus side, it's proactive, handles multi-step reasoning naturally, and adapts as new evidence comes in. On the downside, searching through many possible action sequences is computationally expensive, it depends heavily on clean and reliable data, and a goal-based agent by itself doesn't rank how good each solution is — that's where a utility-based agent would extend it further. Most importantly, a human clinician must always remain in the loop for final decisions.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To wrap up: a goal-based agent chooses its actions by looking ahead toward a target outcome instead of just reacting. In healthcare, that goal evolves — first diagnose, then confirm, then treat — supported by a real data pipeline and decision logic that blends rules, probability, and machine learning. It's a powerful model for complex medical reasoning, but it works best as a support tool alongside human clinicians, not a replacement for them. Thank you, and we're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Image 0"/>
          <p:cNvPicPr>
            <a:picLocks noChangeAspect="1"/>
          </p:cNvPicPr>
          <p:nvPr/>
        </p:nvPicPr>
        <p:blipFill>
          <a:blip r:embed="rId2"/>
          <a:stretch>
            <a:fillRect/>
          </a:stretch>
        </p:blipFill>
        <p:spPr>
          <a:xfrm>
            <a:off x="324909" y="156014"/>
            <a:ext cx="10607041" cy="1366115"/>
          </a:xfrm>
          <a:prstGeom prst="rect">
            <a:avLst/>
          </a:prstGeom>
          <a:ln w="12700">
            <a:miter lim="400000"/>
          </a:ln>
        </p:spPr>
      </p:pic>
      <p:sp>
        <p:nvSpPr>
          <p:cNvPr id="6" name="Rectangle 5"/>
          <p:cNvSpPr/>
          <p:nvPr/>
        </p:nvSpPr>
        <p:spPr>
          <a:xfrm>
            <a:off x="7883950" y="4423293"/>
            <a:ext cx="6096000" cy="1661993"/>
          </a:xfrm>
          <a:prstGeom prst="rect">
            <a:avLst/>
          </a:prstGeom>
        </p:spPr>
        <p:txBody>
          <a:bodyPr>
            <a:spAutoFit/>
          </a:bodyPr>
          <a:lstStyle/>
          <a:p>
            <a:pPr>
              <a:defRPr sz="1700" b="1">
                <a:latin typeface="Times New Roman"/>
                <a:ea typeface="Times New Roman"/>
                <a:cs typeface="Times New Roman"/>
                <a:sym typeface="Times New Roman"/>
              </a:defRPr>
            </a:pPr>
            <a:r>
              <a:rPr lang="en-IN" dirty="0"/>
              <a:t>PRESENTED BY:</a:t>
            </a:r>
          </a:p>
          <a:p>
            <a:pPr>
              <a:defRPr sz="1700" b="1">
                <a:latin typeface="Times New Roman"/>
                <a:ea typeface="Times New Roman"/>
                <a:cs typeface="Times New Roman"/>
                <a:sym typeface="Times New Roman"/>
              </a:defRPr>
            </a:pPr>
            <a:endParaRPr lang="en-IN" dirty="0"/>
          </a:p>
          <a:p>
            <a:pPr>
              <a:defRPr sz="1700">
                <a:latin typeface="Times New Roman"/>
                <a:ea typeface="Times New Roman"/>
                <a:cs typeface="Times New Roman"/>
                <a:sym typeface="Times New Roman"/>
              </a:defRPr>
            </a:pPr>
            <a:r>
              <a:rPr lang="en-IN" dirty="0"/>
              <a:t>R.JOTHIKA (192311413)</a:t>
            </a:r>
          </a:p>
          <a:p>
            <a:pPr>
              <a:defRPr sz="1700">
                <a:latin typeface="Times New Roman"/>
                <a:ea typeface="Times New Roman"/>
                <a:cs typeface="Times New Roman"/>
                <a:sym typeface="Times New Roman"/>
              </a:defRPr>
            </a:pPr>
            <a:r>
              <a:rPr lang="en-IN" dirty="0"/>
              <a:t>R S Jahnavi (192371056)</a:t>
            </a:r>
          </a:p>
          <a:p>
            <a:pPr>
              <a:defRPr sz="1700">
                <a:latin typeface="Times New Roman"/>
                <a:ea typeface="Times New Roman"/>
                <a:cs typeface="Times New Roman"/>
                <a:sym typeface="Times New Roman"/>
              </a:defRPr>
            </a:pPr>
            <a:r>
              <a:rPr lang="en-IN" dirty="0" err="1"/>
              <a:t>B.Satya</a:t>
            </a:r>
            <a:r>
              <a:rPr lang="en-IN" dirty="0"/>
              <a:t> </a:t>
            </a:r>
            <a:r>
              <a:rPr lang="en-IN" dirty="0" err="1"/>
              <a:t>Hyndavi</a:t>
            </a:r>
            <a:r>
              <a:rPr lang="en-IN"/>
              <a:t>(192311178)</a:t>
            </a:r>
            <a:endParaRPr lang="en-IN" dirty="0"/>
          </a:p>
          <a:p>
            <a:pPr>
              <a:defRPr sz="1700">
                <a:latin typeface="Times New Roman"/>
                <a:ea typeface="Times New Roman"/>
                <a:cs typeface="Times New Roman"/>
                <a:sym typeface="Times New Roman"/>
              </a:defRPr>
            </a:pPr>
            <a:endParaRPr lang="en-IN" dirty="0"/>
          </a:p>
        </p:txBody>
      </p:sp>
      <p:sp>
        <p:nvSpPr>
          <p:cNvPr id="7" name="Rectangle 6"/>
          <p:cNvSpPr/>
          <p:nvPr/>
        </p:nvSpPr>
        <p:spPr>
          <a:xfrm>
            <a:off x="3113503" y="2603379"/>
            <a:ext cx="6557051" cy="523220"/>
          </a:xfrm>
          <a:prstGeom prst="rect">
            <a:avLst/>
          </a:prstGeom>
        </p:spPr>
        <p:txBody>
          <a:bodyPr wrap="none">
            <a:spAutoFit/>
          </a:bodyPr>
          <a:lstStyle/>
          <a:p>
            <a:r>
              <a:rPr lang="en-IN" sz="2800" b="1" dirty="0"/>
              <a:t>Goal-Based Agent for Healthcare Diagnosis</a:t>
            </a:r>
          </a:p>
        </p:txBody>
      </p:sp>
    </p:spTree>
    <p:extLst>
      <p:ext uri="{BB962C8B-B14F-4D97-AF65-F5344CB8AC3E}">
        <p14:creationId xmlns:p14="http://schemas.microsoft.com/office/powerpoint/2010/main" val="1851469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B2E33"/>
        </a:solidFill>
        <a:effectLst/>
      </p:bgPr>
    </p:bg>
    <p:spTree>
      <p:nvGrpSpPr>
        <p:cNvPr id="1" name=""/>
        <p:cNvGrpSpPr/>
        <p:nvPr/>
      </p:nvGrpSpPr>
      <p:grpSpPr>
        <a:xfrm>
          <a:off x="0" y="0"/>
          <a:ext cx="0" cy="0"/>
          <a:chOff x="0" y="0"/>
          <a:chExt cx="0" cy="0"/>
        </a:xfrm>
      </p:grpSpPr>
      <p:sp>
        <p:nvSpPr>
          <p:cNvPr id="4" name="Text 2"/>
          <p:cNvSpPr txBox="1"/>
          <p:nvPr/>
        </p:nvSpPr>
        <p:spPr>
          <a:xfrm>
            <a:off x="731520" y="1554480"/>
            <a:ext cx="8229600" cy="365760"/>
          </a:xfrm>
          <a:prstGeom prst="rect">
            <a:avLst/>
          </a:prstGeom>
          <a:noFill/>
          <a:ln/>
        </p:spPr>
        <p:txBody>
          <a:bodyPr wrap="square" lIns="0" tIns="0" rIns="0" bIns="0" rtlCol="0" anchor="ctr"/>
          <a:lstStyle/>
          <a:p>
            <a:pPr marL="0" indent="0">
              <a:buNone/>
            </a:pPr>
            <a:r>
              <a:rPr lang="en-US" sz="1400" b="1" kern="0" spc="200" dirty="0">
                <a:solidFill>
                  <a:srgbClr val="02C39A"/>
                </a:solidFill>
                <a:latin typeface="Calibri" pitchFamily="34" charset="0"/>
                <a:ea typeface="Calibri" pitchFamily="34" charset="-122"/>
                <a:cs typeface="Calibri" pitchFamily="34" charset="-120"/>
              </a:rPr>
              <a:t>ARTIFICIAL INTELLIGENCE  •  INTELLIGENT AGENTS</a:t>
            </a:r>
            <a:endParaRPr lang="en-US" sz="1400" dirty="0"/>
          </a:p>
        </p:txBody>
      </p:sp>
      <p:sp>
        <p:nvSpPr>
          <p:cNvPr id="5" name="Text 3"/>
          <p:cNvSpPr txBox="1"/>
          <p:nvPr/>
        </p:nvSpPr>
        <p:spPr>
          <a:xfrm>
            <a:off x="731520" y="1965960"/>
            <a:ext cx="9601200" cy="192024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Goal-Based Agent for</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Healthcare Diagnosis</a:t>
            </a:r>
            <a:endParaRPr lang="en-US" sz="4400" dirty="0"/>
          </a:p>
        </p:txBody>
      </p:sp>
      <p:sp>
        <p:nvSpPr>
          <p:cNvPr id="6" name="Text 4"/>
          <p:cNvSpPr txBox="1"/>
          <p:nvPr/>
        </p:nvSpPr>
        <p:spPr>
          <a:xfrm>
            <a:off x="731520" y="3886200"/>
            <a:ext cx="8046720" cy="731520"/>
          </a:xfrm>
          <a:prstGeom prst="rect">
            <a:avLst/>
          </a:prstGeom>
          <a:noFill/>
          <a:ln/>
        </p:spPr>
        <p:txBody>
          <a:bodyPr wrap="square" lIns="0" tIns="0" rIns="0" bIns="0" rtlCol="0" anchor="ctr"/>
          <a:lstStyle/>
          <a:p>
            <a:pPr marL="0" indent="0">
              <a:buNone/>
            </a:pPr>
            <a:r>
              <a:rPr lang="en-US" sz="1600" dirty="0">
                <a:solidFill>
                  <a:srgbClr val="CFE9E6"/>
                </a:solidFill>
                <a:latin typeface="Calibri" pitchFamily="34" charset="0"/>
                <a:ea typeface="Calibri" pitchFamily="34" charset="-122"/>
                <a:cs typeface="Calibri" pitchFamily="34" charset="-120"/>
              </a:rPr>
              <a:t>How an AI agent sets diagnostic goals, evaluates patient data, and selects the optimal treatment pathway</a:t>
            </a:r>
            <a:endParaRPr lang="en-US" sz="1600" dirty="0"/>
          </a:p>
        </p:txBody>
      </p:sp>
      <p:sp>
        <p:nvSpPr>
          <p:cNvPr id="7" name="Shape 5"/>
          <p:cNvSpPr/>
          <p:nvPr/>
        </p:nvSpPr>
        <p:spPr>
          <a:xfrm>
            <a:off x="731520" y="4846320"/>
            <a:ext cx="1097280" cy="0"/>
          </a:xfrm>
          <a:prstGeom prst="line">
            <a:avLst/>
          </a:prstGeom>
          <a:noFill/>
          <a:ln w="38100">
            <a:solidFill>
              <a:srgbClr val="02C39A"/>
            </a:solidFill>
            <a:prstDash val="solid"/>
          </a:ln>
        </p:spPr>
      </p:sp>
      <p:sp>
        <p:nvSpPr>
          <p:cNvPr id="8" name="Text 6"/>
          <p:cNvSpPr txBox="1"/>
          <p:nvPr/>
        </p:nvSpPr>
        <p:spPr>
          <a:xfrm>
            <a:off x="731520" y="5029200"/>
            <a:ext cx="5486400" cy="365760"/>
          </a:xfrm>
          <a:prstGeom prst="rect">
            <a:avLst/>
          </a:prstGeom>
          <a:noFill/>
          <a:ln/>
        </p:spPr>
        <p:txBody>
          <a:bodyPr wrap="square" lIns="0" tIns="0" rIns="0" bIns="0" rtlCol="0" anchor="ctr"/>
          <a:lstStyle/>
          <a:p>
            <a:pPr marL="0" indent="0">
              <a:buNone/>
            </a:pP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lIns="0" tIns="0" rIns="0" bIns="0" rtlCol="0" anchor="ctr"/>
          <a:lstStyle/>
          <a:p>
            <a:pPr marL="0" indent="0">
              <a:buNone/>
            </a:pPr>
            <a:r>
              <a:rPr lang="en-US" sz="3000" b="1" dirty="0">
                <a:solidFill>
                  <a:srgbClr val="1B2B2C"/>
                </a:solidFill>
                <a:latin typeface="Cambria" pitchFamily="34" charset="0"/>
                <a:ea typeface="Cambria" pitchFamily="34" charset="-122"/>
                <a:cs typeface="Cambria" pitchFamily="34" charset="-120"/>
              </a:rPr>
              <a:t>Quick Recap: Types of AI Agents</a:t>
            </a:r>
            <a:endParaRPr lang="en-US" sz="3000" dirty="0"/>
          </a:p>
        </p:txBody>
      </p:sp>
      <p:sp>
        <p:nvSpPr>
          <p:cNvPr id="3" name="Text 1"/>
          <p:cNvSpPr txBox="1"/>
          <p:nvPr/>
        </p:nvSpPr>
        <p:spPr>
          <a:xfrm>
            <a:off x="548640" y="1005840"/>
            <a:ext cx="11091672" cy="365760"/>
          </a:xfrm>
          <a:prstGeom prst="rect">
            <a:avLst/>
          </a:prstGeom>
          <a:noFill/>
          <a:ln/>
        </p:spPr>
        <p:txBody>
          <a:bodyPr wrap="square" lIns="0" tIns="0" rIns="0" bIns="0"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Where does "goal-based" fit in?</a:t>
            </a:r>
            <a:endParaRPr lang="en-US" sz="1400" dirty="0"/>
          </a:p>
        </p:txBody>
      </p:sp>
      <p:sp>
        <p:nvSpPr>
          <p:cNvPr id="4" name="Shape 2"/>
          <p:cNvSpPr/>
          <p:nvPr/>
        </p:nvSpPr>
        <p:spPr>
          <a:xfrm>
            <a:off x="548640" y="1828800"/>
            <a:ext cx="2651760" cy="3383280"/>
          </a:xfrm>
          <a:prstGeom prst="roundRect">
            <a:avLst>
              <a:gd name="adj" fmla="val 2759"/>
            </a:avLst>
          </a:prstGeom>
          <a:solidFill>
            <a:srgbClr val="F0F7F6"/>
          </a:solidFill>
          <a:ln/>
          <a:effectLst>
            <a:outerShdw blurRad="76200" dist="25400" dir="5400000" algn="bl" rotWithShape="0">
              <a:srgbClr val="5B6E70">
                <a:alpha val="18000"/>
              </a:srgbClr>
            </a:outerShdw>
          </a:effectLst>
        </p:spPr>
      </p:sp>
      <p:sp>
        <p:nvSpPr>
          <p:cNvPr id="5" name="Text 3"/>
          <p:cNvSpPr txBox="1"/>
          <p:nvPr/>
        </p:nvSpPr>
        <p:spPr>
          <a:xfrm>
            <a:off x="749808" y="2057400"/>
            <a:ext cx="2249424" cy="822960"/>
          </a:xfrm>
          <a:prstGeom prst="rect">
            <a:avLst/>
          </a:prstGeom>
          <a:noFill/>
          <a:ln/>
        </p:spPr>
        <p:txBody>
          <a:bodyPr wrap="square" lIns="0" tIns="0" rIns="0" bIns="0" rtlCol="0" anchor="ctr"/>
          <a:lstStyle/>
          <a:p>
            <a:pPr marL="0" indent="0">
              <a:buNone/>
            </a:pPr>
            <a:r>
              <a:rPr lang="en-US" sz="1650" b="1" dirty="0">
                <a:solidFill>
                  <a:srgbClr val="1B2B2C"/>
                </a:solidFill>
                <a:latin typeface="Cambria" pitchFamily="34" charset="0"/>
                <a:ea typeface="Cambria" pitchFamily="34" charset="-122"/>
                <a:cs typeface="Cambria" pitchFamily="34" charset="-120"/>
              </a:rPr>
              <a:t>Simple Reflex</a:t>
            </a:r>
            <a:endParaRPr lang="en-US" sz="1650" dirty="0"/>
          </a:p>
        </p:txBody>
      </p:sp>
      <p:sp>
        <p:nvSpPr>
          <p:cNvPr id="6" name="Text 4"/>
          <p:cNvSpPr txBox="1"/>
          <p:nvPr/>
        </p:nvSpPr>
        <p:spPr>
          <a:xfrm>
            <a:off x="749808" y="2926080"/>
            <a:ext cx="2249424" cy="2011680"/>
          </a:xfrm>
          <a:prstGeom prst="rect">
            <a:avLst/>
          </a:prstGeom>
          <a:noFill/>
          <a:ln/>
        </p:spPr>
        <p:txBody>
          <a:bodyPr wrap="square" lIns="0" tIns="0" rIns="0" bIns="0" rtlCol="0" anchor="ctr"/>
          <a:lstStyle/>
          <a:p>
            <a:pPr marL="0" indent="0">
              <a:lnSpc>
                <a:spcPct val="115000"/>
              </a:lnSpc>
              <a:buNone/>
            </a:pPr>
            <a:r>
              <a:rPr lang="en-US" sz="1250" dirty="0">
                <a:solidFill>
                  <a:srgbClr val="5B6E70"/>
                </a:solidFill>
                <a:latin typeface="Calibri" pitchFamily="34" charset="0"/>
                <a:ea typeface="Calibri" pitchFamily="34" charset="-122"/>
                <a:cs typeface="Calibri" pitchFamily="34" charset="-120"/>
              </a:rPr>
              <a:t>Acts only on the current percept.</a:t>
            </a:r>
            <a:endParaRPr lang="en-US" sz="1250" dirty="0"/>
          </a:p>
          <a:p>
            <a:pPr marL="0" indent="0">
              <a:lnSpc>
                <a:spcPct val="115000"/>
              </a:lnSpc>
              <a:buNone/>
            </a:pPr>
            <a:r>
              <a:rPr lang="en-US" sz="1250" dirty="0">
                <a:solidFill>
                  <a:srgbClr val="5B6E70"/>
                </a:solidFill>
                <a:latin typeface="Calibri" pitchFamily="34" charset="0"/>
                <a:ea typeface="Calibri" pitchFamily="34" charset="-122"/>
                <a:cs typeface="Calibri" pitchFamily="34" charset="-120"/>
              </a:rPr>
              <a:t>E.g., "If fever &gt; 102°F, alert nurse."</a:t>
            </a:r>
            <a:endParaRPr lang="en-US" sz="1250" dirty="0"/>
          </a:p>
        </p:txBody>
      </p:sp>
      <p:sp>
        <p:nvSpPr>
          <p:cNvPr id="7" name="Shape 5"/>
          <p:cNvSpPr/>
          <p:nvPr/>
        </p:nvSpPr>
        <p:spPr>
          <a:xfrm>
            <a:off x="3474720" y="1828800"/>
            <a:ext cx="2651760" cy="3383280"/>
          </a:xfrm>
          <a:prstGeom prst="roundRect">
            <a:avLst>
              <a:gd name="adj" fmla="val 2759"/>
            </a:avLst>
          </a:prstGeom>
          <a:solidFill>
            <a:srgbClr val="F0F7F6"/>
          </a:solidFill>
          <a:ln/>
          <a:effectLst>
            <a:outerShdw blurRad="76200" dist="25400" dir="5400000" algn="bl" rotWithShape="0">
              <a:srgbClr val="5B6E70">
                <a:alpha val="18000"/>
              </a:srgbClr>
            </a:outerShdw>
          </a:effectLst>
        </p:spPr>
      </p:sp>
      <p:sp>
        <p:nvSpPr>
          <p:cNvPr id="8" name="Text 6"/>
          <p:cNvSpPr txBox="1"/>
          <p:nvPr/>
        </p:nvSpPr>
        <p:spPr>
          <a:xfrm>
            <a:off x="3675888" y="2057400"/>
            <a:ext cx="2249424" cy="822960"/>
          </a:xfrm>
          <a:prstGeom prst="rect">
            <a:avLst/>
          </a:prstGeom>
          <a:noFill/>
          <a:ln/>
        </p:spPr>
        <p:txBody>
          <a:bodyPr wrap="square" lIns="0" tIns="0" rIns="0" bIns="0" rtlCol="0" anchor="ctr"/>
          <a:lstStyle/>
          <a:p>
            <a:pPr marL="0" indent="0">
              <a:buNone/>
            </a:pPr>
            <a:r>
              <a:rPr lang="en-US" sz="1650" b="1" dirty="0">
                <a:solidFill>
                  <a:srgbClr val="1B2B2C"/>
                </a:solidFill>
                <a:latin typeface="Cambria" pitchFamily="34" charset="0"/>
                <a:ea typeface="Cambria" pitchFamily="34" charset="-122"/>
                <a:cs typeface="Cambria" pitchFamily="34" charset="-120"/>
              </a:rPr>
              <a:t>Model-Based Reflex</a:t>
            </a:r>
            <a:endParaRPr lang="en-US" sz="1650" dirty="0"/>
          </a:p>
        </p:txBody>
      </p:sp>
      <p:sp>
        <p:nvSpPr>
          <p:cNvPr id="9" name="Text 7"/>
          <p:cNvSpPr txBox="1"/>
          <p:nvPr/>
        </p:nvSpPr>
        <p:spPr>
          <a:xfrm>
            <a:off x="3675888" y="2926080"/>
            <a:ext cx="2249424" cy="2011680"/>
          </a:xfrm>
          <a:prstGeom prst="rect">
            <a:avLst/>
          </a:prstGeom>
          <a:noFill/>
          <a:ln/>
        </p:spPr>
        <p:txBody>
          <a:bodyPr wrap="square" lIns="0" tIns="0" rIns="0" bIns="0" rtlCol="0" anchor="ctr"/>
          <a:lstStyle/>
          <a:p>
            <a:pPr marL="0" indent="0">
              <a:lnSpc>
                <a:spcPct val="115000"/>
              </a:lnSpc>
              <a:buNone/>
            </a:pPr>
            <a:r>
              <a:rPr lang="en-US" sz="1250" dirty="0">
                <a:solidFill>
                  <a:srgbClr val="5B6E70"/>
                </a:solidFill>
                <a:latin typeface="Calibri" pitchFamily="34" charset="0"/>
                <a:ea typeface="Calibri" pitchFamily="34" charset="-122"/>
                <a:cs typeface="Calibri" pitchFamily="34" charset="-120"/>
              </a:rPr>
              <a:t>Keeps an internal model of the world to handle what it can't currently see.</a:t>
            </a:r>
            <a:endParaRPr lang="en-US" sz="1250" dirty="0"/>
          </a:p>
        </p:txBody>
      </p:sp>
      <p:sp>
        <p:nvSpPr>
          <p:cNvPr id="10" name="Shape 8"/>
          <p:cNvSpPr/>
          <p:nvPr/>
        </p:nvSpPr>
        <p:spPr>
          <a:xfrm>
            <a:off x="6400800" y="1828800"/>
            <a:ext cx="2651760" cy="3383280"/>
          </a:xfrm>
          <a:prstGeom prst="roundRect">
            <a:avLst>
              <a:gd name="adj" fmla="val 2759"/>
            </a:avLst>
          </a:prstGeom>
          <a:solidFill>
            <a:srgbClr val="028090"/>
          </a:solidFill>
          <a:ln/>
          <a:effectLst>
            <a:outerShdw blurRad="76200" dist="25400" dir="5400000" algn="bl" rotWithShape="0">
              <a:srgbClr val="5B6E70">
                <a:alpha val="18000"/>
              </a:srgbClr>
            </a:outerShdw>
          </a:effectLst>
        </p:spPr>
      </p:sp>
      <p:sp>
        <p:nvSpPr>
          <p:cNvPr id="11" name="Text 9"/>
          <p:cNvSpPr txBox="1"/>
          <p:nvPr/>
        </p:nvSpPr>
        <p:spPr>
          <a:xfrm>
            <a:off x="6601968" y="2057400"/>
            <a:ext cx="2249424" cy="82296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Goal-Based</a:t>
            </a:r>
            <a:endParaRPr lang="en-US" sz="1650" dirty="0"/>
          </a:p>
        </p:txBody>
      </p:sp>
      <p:sp>
        <p:nvSpPr>
          <p:cNvPr id="12" name="Text 10"/>
          <p:cNvSpPr txBox="1"/>
          <p:nvPr/>
        </p:nvSpPr>
        <p:spPr>
          <a:xfrm>
            <a:off x="6601968" y="2926080"/>
            <a:ext cx="2249424" cy="2011680"/>
          </a:xfrm>
          <a:prstGeom prst="rect">
            <a:avLst/>
          </a:prstGeom>
          <a:noFill/>
          <a:ln/>
        </p:spPr>
        <p:txBody>
          <a:bodyPr wrap="square" lIns="0" tIns="0" rIns="0" bIns="0" rtlCol="0" anchor="ctr"/>
          <a:lstStyle/>
          <a:p>
            <a:pPr marL="0" indent="0">
              <a:lnSpc>
                <a:spcPct val="115000"/>
              </a:lnSpc>
              <a:buNone/>
            </a:pPr>
            <a:r>
              <a:rPr lang="en-US" sz="1250" dirty="0">
                <a:solidFill>
                  <a:srgbClr val="E4F7F4"/>
                </a:solidFill>
                <a:latin typeface="Calibri" pitchFamily="34" charset="0"/>
                <a:ea typeface="Calibri" pitchFamily="34" charset="-122"/>
                <a:cs typeface="Calibri" pitchFamily="34" charset="-120"/>
              </a:rPr>
              <a:t>Chooses actions that will achieve a defined goal — thinks ahead, not just reacts.</a:t>
            </a:r>
            <a:endParaRPr lang="en-US" sz="1250" dirty="0"/>
          </a:p>
        </p:txBody>
      </p:sp>
      <p:sp>
        <p:nvSpPr>
          <p:cNvPr id="13" name="Text 11"/>
          <p:cNvSpPr txBox="1"/>
          <p:nvPr/>
        </p:nvSpPr>
        <p:spPr>
          <a:xfrm>
            <a:off x="6601968" y="4709160"/>
            <a:ext cx="2249424" cy="320040"/>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OUR FOCUS</a:t>
            </a:r>
            <a:endParaRPr lang="en-US" sz="1100" dirty="0"/>
          </a:p>
        </p:txBody>
      </p:sp>
      <p:sp>
        <p:nvSpPr>
          <p:cNvPr id="14" name="Shape 12"/>
          <p:cNvSpPr/>
          <p:nvPr/>
        </p:nvSpPr>
        <p:spPr>
          <a:xfrm>
            <a:off x="9326880" y="1828800"/>
            <a:ext cx="2651760" cy="3383280"/>
          </a:xfrm>
          <a:prstGeom prst="roundRect">
            <a:avLst>
              <a:gd name="adj" fmla="val 2759"/>
            </a:avLst>
          </a:prstGeom>
          <a:solidFill>
            <a:srgbClr val="F0F7F6"/>
          </a:solidFill>
          <a:ln/>
          <a:effectLst>
            <a:outerShdw blurRad="76200" dist="25400" dir="5400000" algn="bl" rotWithShape="0">
              <a:srgbClr val="5B6E70">
                <a:alpha val="18000"/>
              </a:srgbClr>
            </a:outerShdw>
          </a:effectLst>
        </p:spPr>
      </p:sp>
      <p:sp>
        <p:nvSpPr>
          <p:cNvPr id="15" name="Text 13"/>
          <p:cNvSpPr txBox="1"/>
          <p:nvPr/>
        </p:nvSpPr>
        <p:spPr>
          <a:xfrm>
            <a:off x="9528048" y="2057400"/>
            <a:ext cx="2249424" cy="822960"/>
          </a:xfrm>
          <a:prstGeom prst="rect">
            <a:avLst/>
          </a:prstGeom>
          <a:noFill/>
          <a:ln/>
        </p:spPr>
        <p:txBody>
          <a:bodyPr wrap="square" lIns="0" tIns="0" rIns="0" bIns="0" rtlCol="0" anchor="ctr"/>
          <a:lstStyle/>
          <a:p>
            <a:pPr marL="0" indent="0">
              <a:buNone/>
            </a:pPr>
            <a:r>
              <a:rPr lang="en-US" sz="1650" b="1" dirty="0">
                <a:solidFill>
                  <a:srgbClr val="1B2B2C"/>
                </a:solidFill>
                <a:latin typeface="Cambria" pitchFamily="34" charset="0"/>
                <a:ea typeface="Cambria" pitchFamily="34" charset="-122"/>
                <a:cs typeface="Cambria" pitchFamily="34" charset="-120"/>
              </a:rPr>
              <a:t>Utility-Based</a:t>
            </a:r>
            <a:endParaRPr lang="en-US" sz="1650" dirty="0"/>
          </a:p>
        </p:txBody>
      </p:sp>
      <p:sp>
        <p:nvSpPr>
          <p:cNvPr id="16" name="Text 14"/>
          <p:cNvSpPr txBox="1"/>
          <p:nvPr/>
        </p:nvSpPr>
        <p:spPr>
          <a:xfrm>
            <a:off x="9528048" y="2926080"/>
            <a:ext cx="2249424" cy="2011680"/>
          </a:xfrm>
          <a:prstGeom prst="rect">
            <a:avLst/>
          </a:prstGeom>
          <a:noFill/>
          <a:ln/>
        </p:spPr>
        <p:txBody>
          <a:bodyPr wrap="square" lIns="0" tIns="0" rIns="0" bIns="0" rtlCol="0" anchor="ctr"/>
          <a:lstStyle/>
          <a:p>
            <a:pPr marL="0" indent="0">
              <a:lnSpc>
                <a:spcPct val="115000"/>
              </a:lnSpc>
              <a:buNone/>
            </a:pPr>
            <a:r>
              <a:rPr lang="en-US" sz="1250" dirty="0">
                <a:solidFill>
                  <a:srgbClr val="5B6E70"/>
                </a:solidFill>
                <a:latin typeface="Calibri" pitchFamily="34" charset="0"/>
                <a:ea typeface="Calibri" pitchFamily="34" charset="-122"/>
                <a:cs typeface="Calibri" pitchFamily="34" charset="-120"/>
              </a:rPr>
              <a:t>Picks the action that maximizes an overall "happiness/benefit" score.</a:t>
            </a:r>
            <a:endParaRPr lang="en-US" sz="1250" dirty="0"/>
          </a:p>
        </p:txBody>
      </p:sp>
      <p:sp>
        <p:nvSpPr>
          <p:cNvPr id="17" name="Text 15"/>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3</a:t>
            </a:r>
            <a:endParaRPr lang="en-US" sz="1000" dirty="0"/>
          </a:p>
        </p:txBody>
      </p:sp>
      <p:sp>
        <p:nvSpPr>
          <p:cNvPr id="18" name="Text 16"/>
          <p:cNvSpPr txBox="1"/>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5B6E70"/>
                </a:solidFill>
                <a:latin typeface="Calibri" pitchFamily="34" charset="0"/>
                <a:ea typeface="Calibri" pitchFamily="34" charset="-122"/>
                <a:cs typeface="Calibri" pitchFamily="34" charset="-120"/>
              </a:rPr>
              <a:t>Goal-Based Agent in Healthcare Diagnosis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lIns="0" tIns="0" rIns="0" bIns="0" rtlCol="0" anchor="ctr"/>
          <a:lstStyle/>
          <a:p>
            <a:pPr marL="0" indent="0">
              <a:buNone/>
            </a:pPr>
            <a:r>
              <a:rPr lang="en-US" sz="3000" b="1" dirty="0">
                <a:solidFill>
                  <a:srgbClr val="1B2B2C"/>
                </a:solidFill>
                <a:latin typeface="Cambria" pitchFamily="34" charset="0"/>
                <a:ea typeface="Cambria" pitchFamily="34" charset="-122"/>
                <a:cs typeface="Cambria" pitchFamily="34" charset="-120"/>
              </a:rPr>
              <a:t>What Makes an Agent "Goal-Based"?</a:t>
            </a:r>
            <a:endParaRPr lang="en-US" sz="3000" dirty="0"/>
          </a:p>
        </p:txBody>
      </p:sp>
      <p:sp>
        <p:nvSpPr>
          <p:cNvPr id="3" name="Text 1"/>
          <p:cNvSpPr txBox="1"/>
          <p:nvPr/>
        </p:nvSpPr>
        <p:spPr>
          <a:xfrm>
            <a:off x="548640" y="1828800"/>
            <a:ext cx="6035040" cy="4206240"/>
          </a:xfrm>
          <a:prstGeom prst="rect">
            <a:avLst/>
          </a:prstGeom>
          <a:noFill/>
          <a:ln/>
        </p:spPr>
        <p:txBody>
          <a:bodyPr wrap="square" lIns="0" tIns="0" rIns="0" bIns="0" rtlCol="0" anchor="t"/>
          <a:lstStyle/>
          <a:p>
            <a:pPr marL="228600" indent="-228600">
              <a:lnSpc>
                <a:spcPct val="108000"/>
              </a:lnSpc>
              <a:spcAft>
                <a:spcPts val="1600"/>
              </a:spcAft>
              <a:buSzPct val="100000"/>
              <a:buChar char="•"/>
            </a:pPr>
            <a:r>
              <a:rPr lang="en-US" sz="1600" dirty="0">
                <a:solidFill>
                  <a:srgbClr val="1B2B2C"/>
                </a:solidFill>
                <a:latin typeface="Calibri" pitchFamily="34" charset="0"/>
                <a:ea typeface="Calibri" pitchFamily="34" charset="-122"/>
                <a:cs typeface="Calibri" pitchFamily="34" charset="-120"/>
              </a:rPr>
              <a:t>Has an explicit GOAL — a desired outcome, not just a rule to fire</a:t>
            </a:r>
            <a:endParaRPr lang="en-US" sz="1600" dirty="0"/>
          </a:p>
          <a:p>
            <a:pPr marL="228600" indent="-228600">
              <a:lnSpc>
                <a:spcPct val="108000"/>
              </a:lnSpc>
              <a:spcAft>
                <a:spcPts val="1600"/>
              </a:spcAft>
              <a:buSzPct val="100000"/>
              <a:buChar char="•"/>
            </a:pPr>
            <a:r>
              <a:rPr lang="en-US" sz="1600" dirty="0">
                <a:solidFill>
                  <a:srgbClr val="1B2B2C"/>
                </a:solidFill>
                <a:latin typeface="Calibri" pitchFamily="34" charset="0"/>
                <a:ea typeface="Calibri" pitchFamily="34" charset="-122"/>
                <a:cs typeface="Calibri" pitchFamily="34" charset="-120"/>
              </a:rPr>
              <a:t>Evaluates possible action sequences before acting (thinks ahead)</a:t>
            </a:r>
            <a:endParaRPr lang="en-US" sz="1600" dirty="0"/>
          </a:p>
          <a:p>
            <a:pPr marL="228600" indent="-228600">
              <a:lnSpc>
                <a:spcPct val="108000"/>
              </a:lnSpc>
              <a:spcAft>
                <a:spcPts val="1600"/>
              </a:spcAft>
              <a:buSzPct val="100000"/>
              <a:buChar char="•"/>
            </a:pPr>
            <a:r>
              <a:rPr lang="en-US" sz="1600" dirty="0">
                <a:solidFill>
                  <a:srgbClr val="1B2B2C"/>
                </a:solidFill>
                <a:latin typeface="Calibri" pitchFamily="34" charset="0"/>
                <a:ea typeface="Calibri" pitchFamily="34" charset="-122"/>
                <a:cs typeface="Calibri" pitchFamily="34" charset="-120"/>
              </a:rPr>
              <a:t>Uses search / planning to find a path from current state → goal state</a:t>
            </a:r>
            <a:endParaRPr lang="en-US" sz="1600" dirty="0"/>
          </a:p>
          <a:p>
            <a:pPr marL="228600" indent="-228600">
              <a:lnSpc>
                <a:spcPct val="108000"/>
              </a:lnSpc>
              <a:spcAft>
                <a:spcPts val="1600"/>
              </a:spcAft>
              <a:buSzPct val="100000"/>
              <a:buChar char="•"/>
            </a:pPr>
            <a:r>
              <a:rPr lang="en-US" sz="1600" dirty="0">
                <a:solidFill>
                  <a:srgbClr val="1B2B2C"/>
                </a:solidFill>
                <a:latin typeface="Calibri" pitchFamily="34" charset="0"/>
                <a:ea typeface="Calibri" pitchFamily="34" charset="-122"/>
                <a:cs typeface="Calibri" pitchFamily="34" charset="-120"/>
              </a:rPr>
              <a:t>Can adapt when the goal changes (new symptom, new information)</a:t>
            </a:r>
            <a:endParaRPr lang="en-US" sz="1600" dirty="0"/>
          </a:p>
          <a:p>
            <a:pPr marL="228600" indent="-228600">
              <a:lnSpc>
                <a:spcPct val="108000"/>
              </a:lnSpc>
              <a:spcAft>
                <a:spcPts val="1600"/>
              </a:spcAft>
              <a:buSzPct val="100000"/>
              <a:buChar char="•"/>
            </a:pPr>
            <a:r>
              <a:rPr lang="en-US" sz="1600" dirty="0">
                <a:solidFill>
                  <a:srgbClr val="1B2B2C"/>
                </a:solidFill>
                <a:latin typeface="Calibri" pitchFamily="34" charset="0"/>
                <a:ea typeface="Calibri" pitchFamily="34" charset="-122"/>
                <a:cs typeface="Calibri" pitchFamily="34" charset="-120"/>
              </a:rPr>
              <a:t>More flexible than reflex agents, but needs more computation</a:t>
            </a:r>
            <a:endParaRPr lang="en-US" sz="1600" dirty="0"/>
          </a:p>
        </p:txBody>
      </p:sp>
      <p:sp>
        <p:nvSpPr>
          <p:cNvPr id="4" name="Shape 2"/>
          <p:cNvSpPr/>
          <p:nvPr/>
        </p:nvSpPr>
        <p:spPr>
          <a:xfrm>
            <a:off x="6949440" y="1828800"/>
            <a:ext cx="4663440" cy="4206240"/>
          </a:xfrm>
          <a:prstGeom prst="roundRect">
            <a:avLst>
              <a:gd name="adj" fmla="val 1739"/>
            </a:avLst>
          </a:prstGeom>
          <a:solidFill>
            <a:srgbClr val="028090"/>
          </a:solidFill>
          <a:ln/>
          <a:effectLst>
            <a:outerShdw blurRad="76200" dist="25400" dir="5400000" algn="bl" rotWithShape="0">
              <a:srgbClr val="5B6E70">
                <a:alpha val="18000"/>
              </a:srgbClr>
            </a:outerShdw>
          </a:effectLst>
        </p:spPr>
      </p:sp>
      <p:sp>
        <p:nvSpPr>
          <p:cNvPr id="5" name="Text 3"/>
          <p:cNvSpPr txBox="1"/>
          <p:nvPr/>
        </p:nvSpPr>
        <p:spPr>
          <a:xfrm>
            <a:off x="7223760" y="2103120"/>
            <a:ext cx="4206240" cy="365760"/>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  RELATABLE ANALOGY</a:t>
            </a:r>
            <a:endParaRPr lang="en-US" sz="1300" dirty="0"/>
          </a:p>
        </p:txBody>
      </p:sp>
      <p:sp>
        <p:nvSpPr>
          <p:cNvPr id="6" name="Text 4"/>
          <p:cNvSpPr txBox="1"/>
          <p:nvPr/>
        </p:nvSpPr>
        <p:spPr>
          <a:xfrm>
            <a:off x="7223760" y="2514600"/>
            <a:ext cx="4206240"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Think of Google Maps</a:t>
            </a:r>
            <a:endParaRPr lang="en-US" sz="2000" dirty="0"/>
          </a:p>
        </p:txBody>
      </p:sp>
      <p:sp>
        <p:nvSpPr>
          <p:cNvPr id="7" name="Text 5"/>
          <p:cNvSpPr txBox="1"/>
          <p:nvPr/>
        </p:nvSpPr>
        <p:spPr>
          <a:xfrm>
            <a:off x="7223760" y="3108960"/>
            <a:ext cx="4206240" cy="2743200"/>
          </a:xfrm>
          <a:prstGeom prst="rect">
            <a:avLst/>
          </a:prstGeom>
          <a:noFill/>
          <a:ln/>
        </p:spPr>
        <p:txBody>
          <a:bodyPr wrap="square" lIns="0" tIns="0" rIns="0" bIns="0" rtlCol="0" anchor="ctr"/>
          <a:lstStyle/>
          <a:p>
            <a:pPr marL="0" indent="0">
              <a:lnSpc>
                <a:spcPct val="120000"/>
              </a:lnSpc>
              <a:buNone/>
            </a:pPr>
            <a:r>
              <a:rPr lang="en-US" sz="1350" dirty="0">
                <a:solidFill>
                  <a:srgbClr val="E4F7F4"/>
                </a:solidFill>
                <a:latin typeface="Calibri" pitchFamily="34" charset="0"/>
                <a:ea typeface="Calibri" pitchFamily="34" charset="-122"/>
                <a:cs typeface="Calibri" pitchFamily="34" charset="-120"/>
              </a:rPr>
              <a:t>Your GOAL is the destination. GPS doesn't just react to the current turn — it evaluates many possible routes, predicts traffic, and selects the best path to reach that goal.</a:t>
            </a:r>
            <a:endParaRPr lang="en-US" sz="1350" dirty="0"/>
          </a:p>
          <a:p>
            <a:pPr marL="0" indent="0">
              <a:lnSpc>
                <a:spcPct val="120000"/>
              </a:lnSpc>
              <a:buNone/>
            </a:pPr>
            <a:endParaRPr lang="en-US" sz="1350" dirty="0"/>
          </a:p>
          <a:p>
            <a:pPr marL="0" indent="0">
              <a:lnSpc>
                <a:spcPct val="120000"/>
              </a:lnSpc>
              <a:buNone/>
            </a:pPr>
            <a:r>
              <a:rPr lang="en-US" sz="1350" dirty="0">
                <a:solidFill>
                  <a:srgbClr val="E4F7F4"/>
                </a:solidFill>
                <a:latin typeface="Calibri" pitchFamily="34" charset="0"/>
                <a:ea typeface="Calibri" pitchFamily="34" charset="-122"/>
                <a:cs typeface="Calibri" pitchFamily="34" charset="-120"/>
              </a:rPr>
              <a:t>A goal-based healthcare agent works the same way: the "destination" is a confirmed diagnosis or a stable patient, and it plans the best route (tests, checks, treatments) to get there.</a:t>
            </a:r>
            <a:endParaRPr lang="en-US" sz="1350" dirty="0"/>
          </a:p>
        </p:txBody>
      </p:sp>
      <p:sp>
        <p:nvSpPr>
          <p:cNvPr id="8" name="Text 6"/>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4</a:t>
            </a:r>
            <a:endParaRPr lang="en-US" sz="1000" dirty="0"/>
          </a:p>
        </p:txBody>
      </p:sp>
      <p:sp>
        <p:nvSpPr>
          <p:cNvPr id="9" name="Text 7"/>
          <p:cNvSpPr txBox="1"/>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5B6E70"/>
                </a:solidFill>
                <a:latin typeface="Calibri" pitchFamily="34" charset="0"/>
                <a:ea typeface="Calibri" pitchFamily="34" charset="-122"/>
                <a:cs typeface="Calibri" pitchFamily="34" charset="-120"/>
              </a:rPr>
              <a:t>Goal-Based Agent in Healthcare Diagnosis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lIns="0" tIns="0" rIns="0" bIns="0" rtlCol="0" anchor="ctr"/>
          <a:lstStyle/>
          <a:p>
            <a:pPr marL="0" indent="0">
              <a:buNone/>
            </a:pPr>
            <a:r>
              <a:rPr lang="en-US" sz="3000" b="1" dirty="0">
                <a:solidFill>
                  <a:srgbClr val="1B2B2C"/>
                </a:solidFill>
                <a:latin typeface="Cambria" pitchFamily="34" charset="0"/>
                <a:ea typeface="Cambria" pitchFamily="34" charset="-122"/>
                <a:cs typeface="Cambria" pitchFamily="34" charset="-120"/>
              </a:rPr>
              <a:t>Why Healthcare Needs Goal-Based Agents</a:t>
            </a:r>
            <a:endParaRPr lang="en-US" sz="3000" dirty="0"/>
          </a:p>
        </p:txBody>
      </p:sp>
      <p:sp>
        <p:nvSpPr>
          <p:cNvPr id="3" name="Shape 1"/>
          <p:cNvSpPr/>
          <p:nvPr/>
        </p:nvSpPr>
        <p:spPr>
          <a:xfrm>
            <a:off x="548640" y="1920240"/>
            <a:ext cx="2651760" cy="3291840"/>
          </a:xfrm>
          <a:prstGeom prst="roundRect">
            <a:avLst>
              <a:gd name="adj" fmla="val 2759"/>
            </a:avLst>
          </a:prstGeom>
          <a:solidFill>
            <a:srgbClr val="F0F7F6"/>
          </a:solidFill>
          <a:ln/>
          <a:effectLst>
            <a:outerShdw blurRad="76200" dist="25400" dir="5400000" algn="bl" rotWithShape="0">
              <a:srgbClr val="5B6E70">
                <a:alpha val="18000"/>
              </a:srgbClr>
            </a:outerShdw>
          </a:effectLst>
        </p:spPr>
      </p:sp>
      <p:sp>
        <p:nvSpPr>
          <p:cNvPr id="4" name="Shape 2"/>
          <p:cNvSpPr/>
          <p:nvPr/>
        </p:nvSpPr>
        <p:spPr>
          <a:xfrm>
            <a:off x="1463040" y="2240280"/>
            <a:ext cx="822960" cy="822960"/>
          </a:xfrm>
          <a:prstGeom prst="ellipse">
            <a:avLst/>
          </a:prstGeom>
          <a:solidFill>
            <a:srgbClr val="00A896"/>
          </a:solidFill>
          <a:ln/>
        </p:spPr>
      </p:sp>
      <p:sp>
        <p:nvSpPr>
          <p:cNvPr id="5" name="Text 3"/>
          <p:cNvSpPr txBox="1"/>
          <p:nvPr/>
        </p:nvSpPr>
        <p:spPr>
          <a:xfrm>
            <a:off x="1463040" y="2240280"/>
            <a:ext cx="822960" cy="822960"/>
          </a:xfrm>
          <a:prstGeom prst="rect">
            <a:avLst/>
          </a:prstGeom>
          <a:noFill/>
          <a:ln/>
        </p:spPr>
        <p:txBody>
          <a:bodyPr wrap="square" lIns="0" tIns="0" rIns="0" bIns="0" rtlCol="0" anchor="ctr"/>
          <a:lstStyle/>
          <a:p>
            <a:pPr marL="0" indent="0" algn="ctr">
              <a:buNone/>
            </a:pPr>
            <a:endParaRPr lang="en-US" sz="2200" dirty="0"/>
          </a:p>
        </p:txBody>
      </p:sp>
      <p:sp>
        <p:nvSpPr>
          <p:cNvPr id="6" name="Text 4"/>
          <p:cNvSpPr txBox="1"/>
          <p:nvPr/>
        </p:nvSpPr>
        <p:spPr>
          <a:xfrm>
            <a:off x="1463040" y="2240280"/>
            <a:ext cx="822960" cy="82296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7" name="Text 5"/>
          <p:cNvSpPr txBox="1"/>
          <p:nvPr/>
        </p:nvSpPr>
        <p:spPr>
          <a:xfrm>
            <a:off x="731520" y="3246120"/>
            <a:ext cx="2286000" cy="640080"/>
          </a:xfrm>
          <a:prstGeom prst="rect">
            <a:avLst/>
          </a:prstGeom>
          <a:noFill/>
          <a:ln/>
        </p:spPr>
        <p:txBody>
          <a:bodyPr wrap="square" lIns="0" tIns="0" rIns="0" bIns="0" rtlCol="0" anchor="ctr"/>
          <a:lstStyle/>
          <a:p>
            <a:pPr marL="0" indent="0" algn="ctr">
              <a:buNone/>
            </a:pPr>
            <a:r>
              <a:rPr lang="en-US" sz="1450" b="1" dirty="0">
                <a:solidFill>
                  <a:srgbClr val="1B2B2C"/>
                </a:solidFill>
                <a:latin typeface="Cambria" pitchFamily="34" charset="0"/>
                <a:ea typeface="Cambria" pitchFamily="34" charset="-122"/>
                <a:cs typeface="Cambria" pitchFamily="34" charset="-120"/>
              </a:rPr>
              <a:t>Complex, Dynamic Data</a:t>
            </a:r>
            <a:endParaRPr lang="en-US" sz="1450" dirty="0"/>
          </a:p>
        </p:txBody>
      </p:sp>
      <p:sp>
        <p:nvSpPr>
          <p:cNvPr id="8" name="Text 6"/>
          <p:cNvSpPr txBox="1"/>
          <p:nvPr/>
        </p:nvSpPr>
        <p:spPr>
          <a:xfrm>
            <a:off x="731520" y="3886200"/>
            <a:ext cx="2286000" cy="1188720"/>
          </a:xfrm>
          <a:prstGeom prst="rect">
            <a:avLst/>
          </a:prstGeom>
          <a:noFill/>
          <a:ln/>
        </p:spPr>
        <p:txBody>
          <a:bodyPr wrap="square" lIns="0" tIns="0" rIns="0" bIns="0" rtlCol="0" anchor="ctr"/>
          <a:lstStyle/>
          <a:p>
            <a:pPr marL="0" indent="0" algn="ctr">
              <a:lnSpc>
                <a:spcPct val="115000"/>
              </a:lnSpc>
              <a:buNone/>
            </a:pPr>
            <a:r>
              <a:rPr lang="en-US" sz="1150" dirty="0">
                <a:solidFill>
                  <a:srgbClr val="5B6E70"/>
                </a:solidFill>
                <a:latin typeface="Calibri" pitchFamily="34" charset="0"/>
                <a:ea typeface="Calibri" pitchFamily="34" charset="-122"/>
                <a:cs typeface="Calibri" pitchFamily="34" charset="-120"/>
              </a:rPr>
              <a:t>Vitals, history, labs, and imaging keep changing — a simple rule can't keep up.</a:t>
            </a:r>
            <a:endParaRPr lang="en-US" sz="1150" dirty="0"/>
          </a:p>
        </p:txBody>
      </p:sp>
      <p:sp>
        <p:nvSpPr>
          <p:cNvPr id="9" name="Shape 7"/>
          <p:cNvSpPr/>
          <p:nvPr/>
        </p:nvSpPr>
        <p:spPr>
          <a:xfrm>
            <a:off x="3474720" y="1920240"/>
            <a:ext cx="2651760" cy="3291840"/>
          </a:xfrm>
          <a:prstGeom prst="roundRect">
            <a:avLst>
              <a:gd name="adj" fmla="val 2759"/>
            </a:avLst>
          </a:prstGeom>
          <a:solidFill>
            <a:srgbClr val="F0F7F6"/>
          </a:solidFill>
          <a:ln/>
          <a:effectLst>
            <a:outerShdw blurRad="76200" dist="25400" dir="5400000" algn="bl" rotWithShape="0">
              <a:srgbClr val="5B6E70">
                <a:alpha val="18000"/>
              </a:srgbClr>
            </a:outerShdw>
          </a:effectLst>
        </p:spPr>
      </p:sp>
      <p:sp>
        <p:nvSpPr>
          <p:cNvPr id="10" name="Shape 8"/>
          <p:cNvSpPr/>
          <p:nvPr/>
        </p:nvSpPr>
        <p:spPr>
          <a:xfrm>
            <a:off x="4389120" y="2240280"/>
            <a:ext cx="822960" cy="822960"/>
          </a:xfrm>
          <a:prstGeom prst="ellipse">
            <a:avLst/>
          </a:prstGeom>
          <a:solidFill>
            <a:srgbClr val="00A896"/>
          </a:solidFill>
          <a:ln/>
        </p:spPr>
      </p:sp>
      <p:sp>
        <p:nvSpPr>
          <p:cNvPr id="11" name="Text 9"/>
          <p:cNvSpPr txBox="1"/>
          <p:nvPr/>
        </p:nvSpPr>
        <p:spPr>
          <a:xfrm>
            <a:off x="4389120" y="2240280"/>
            <a:ext cx="822960" cy="822960"/>
          </a:xfrm>
          <a:prstGeom prst="rect">
            <a:avLst/>
          </a:prstGeom>
          <a:noFill/>
          <a:ln/>
        </p:spPr>
        <p:txBody>
          <a:bodyPr wrap="square" lIns="0" tIns="0" rIns="0" bIns="0" rtlCol="0" anchor="ctr"/>
          <a:lstStyle/>
          <a:p>
            <a:pPr marL="0" indent="0" algn="ctr">
              <a:buNone/>
            </a:pPr>
            <a:endParaRPr lang="en-US" sz="2200" dirty="0"/>
          </a:p>
        </p:txBody>
      </p:sp>
      <p:sp>
        <p:nvSpPr>
          <p:cNvPr id="12" name="Text 10"/>
          <p:cNvSpPr txBox="1"/>
          <p:nvPr/>
        </p:nvSpPr>
        <p:spPr>
          <a:xfrm>
            <a:off x="4389120" y="2240280"/>
            <a:ext cx="822960" cy="82296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3" name="Text 11"/>
          <p:cNvSpPr txBox="1"/>
          <p:nvPr/>
        </p:nvSpPr>
        <p:spPr>
          <a:xfrm>
            <a:off x="3657600" y="3246120"/>
            <a:ext cx="2286000" cy="640080"/>
          </a:xfrm>
          <a:prstGeom prst="rect">
            <a:avLst/>
          </a:prstGeom>
          <a:noFill/>
          <a:ln/>
        </p:spPr>
        <p:txBody>
          <a:bodyPr wrap="square" lIns="0" tIns="0" rIns="0" bIns="0" rtlCol="0" anchor="ctr"/>
          <a:lstStyle/>
          <a:p>
            <a:pPr marL="0" indent="0" algn="ctr">
              <a:buNone/>
            </a:pPr>
            <a:r>
              <a:rPr lang="en-US" sz="1450" b="1" dirty="0">
                <a:solidFill>
                  <a:srgbClr val="1B2B2C"/>
                </a:solidFill>
                <a:latin typeface="Cambria" pitchFamily="34" charset="0"/>
                <a:ea typeface="Cambria" pitchFamily="34" charset="-122"/>
                <a:cs typeface="Cambria" pitchFamily="34" charset="-120"/>
              </a:rPr>
              <a:t>Clear Target Outcomes</a:t>
            </a:r>
            <a:endParaRPr lang="en-US" sz="1450" dirty="0"/>
          </a:p>
        </p:txBody>
      </p:sp>
      <p:sp>
        <p:nvSpPr>
          <p:cNvPr id="14" name="Text 12"/>
          <p:cNvSpPr txBox="1"/>
          <p:nvPr/>
        </p:nvSpPr>
        <p:spPr>
          <a:xfrm>
            <a:off x="3657600" y="3886200"/>
            <a:ext cx="2286000" cy="1188720"/>
          </a:xfrm>
          <a:prstGeom prst="rect">
            <a:avLst/>
          </a:prstGeom>
          <a:noFill/>
          <a:ln/>
        </p:spPr>
        <p:txBody>
          <a:bodyPr wrap="square" lIns="0" tIns="0" rIns="0" bIns="0" rtlCol="0" anchor="ctr"/>
          <a:lstStyle/>
          <a:p>
            <a:pPr marL="0" indent="0" algn="ctr">
              <a:lnSpc>
                <a:spcPct val="115000"/>
              </a:lnSpc>
              <a:buNone/>
            </a:pPr>
            <a:r>
              <a:rPr lang="en-US" sz="1150" dirty="0">
                <a:solidFill>
                  <a:srgbClr val="5B6E70"/>
                </a:solidFill>
                <a:latin typeface="Calibri" pitchFamily="34" charset="0"/>
                <a:ea typeface="Calibri" pitchFamily="34" charset="-122"/>
                <a:cs typeface="Calibri" pitchFamily="34" charset="-120"/>
              </a:rPr>
              <a:t>Doctors work toward goals: confirm a disease, rule out danger, stabilize the patient.</a:t>
            </a:r>
            <a:endParaRPr lang="en-US" sz="1150" dirty="0"/>
          </a:p>
        </p:txBody>
      </p:sp>
      <p:sp>
        <p:nvSpPr>
          <p:cNvPr id="15" name="Shape 13"/>
          <p:cNvSpPr/>
          <p:nvPr/>
        </p:nvSpPr>
        <p:spPr>
          <a:xfrm>
            <a:off x="6400800" y="1920240"/>
            <a:ext cx="2651760" cy="3291840"/>
          </a:xfrm>
          <a:prstGeom prst="roundRect">
            <a:avLst>
              <a:gd name="adj" fmla="val 2759"/>
            </a:avLst>
          </a:prstGeom>
          <a:solidFill>
            <a:srgbClr val="F0F7F6"/>
          </a:solidFill>
          <a:ln/>
          <a:effectLst>
            <a:outerShdw blurRad="76200" dist="25400" dir="5400000" algn="bl" rotWithShape="0">
              <a:srgbClr val="5B6E70">
                <a:alpha val="18000"/>
              </a:srgbClr>
            </a:outerShdw>
          </a:effectLst>
        </p:spPr>
      </p:sp>
      <p:sp>
        <p:nvSpPr>
          <p:cNvPr id="16" name="Shape 14"/>
          <p:cNvSpPr/>
          <p:nvPr/>
        </p:nvSpPr>
        <p:spPr>
          <a:xfrm>
            <a:off x="7315200" y="2240280"/>
            <a:ext cx="822960" cy="822960"/>
          </a:xfrm>
          <a:prstGeom prst="ellipse">
            <a:avLst/>
          </a:prstGeom>
          <a:solidFill>
            <a:srgbClr val="00A896"/>
          </a:solidFill>
          <a:ln/>
        </p:spPr>
      </p:sp>
      <p:sp>
        <p:nvSpPr>
          <p:cNvPr id="17" name="Text 15"/>
          <p:cNvSpPr txBox="1"/>
          <p:nvPr/>
        </p:nvSpPr>
        <p:spPr>
          <a:xfrm>
            <a:off x="7315200" y="2240280"/>
            <a:ext cx="822960" cy="822960"/>
          </a:xfrm>
          <a:prstGeom prst="rect">
            <a:avLst/>
          </a:prstGeom>
          <a:noFill/>
          <a:ln/>
        </p:spPr>
        <p:txBody>
          <a:bodyPr wrap="square" lIns="0" tIns="0" rIns="0" bIns="0" rtlCol="0" anchor="ctr"/>
          <a:lstStyle/>
          <a:p>
            <a:pPr marL="0" indent="0" algn="ctr">
              <a:buNone/>
            </a:pPr>
            <a:endParaRPr lang="en-US" sz="2200" dirty="0"/>
          </a:p>
        </p:txBody>
      </p:sp>
      <p:sp>
        <p:nvSpPr>
          <p:cNvPr id="18" name="Text 16"/>
          <p:cNvSpPr txBox="1"/>
          <p:nvPr/>
        </p:nvSpPr>
        <p:spPr>
          <a:xfrm>
            <a:off x="7315200" y="2240280"/>
            <a:ext cx="822960" cy="82296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9" name="Text 17"/>
          <p:cNvSpPr txBox="1"/>
          <p:nvPr/>
        </p:nvSpPr>
        <p:spPr>
          <a:xfrm>
            <a:off x="6583680" y="3246120"/>
            <a:ext cx="2286000" cy="640080"/>
          </a:xfrm>
          <a:prstGeom prst="rect">
            <a:avLst/>
          </a:prstGeom>
          <a:noFill/>
          <a:ln/>
        </p:spPr>
        <p:txBody>
          <a:bodyPr wrap="square" lIns="0" tIns="0" rIns="0" bIns="0" rtlCol="0" anchor="ctr"/>
          <a:lstStyle/>
          <a:p>
            <a:pPr marL="0" indent="0" algn="ctr">
              <a:buNone/>
            </a:pPr>
            <a:r>
              <a:rPr lang="en-US" sz="1450" b="1" dirty="0">
                <a:solidFill>
                  <a:srgbClr val="1B2B2C"/>
                </a:solidFill>
                <a:latin typeface="Cambria" pitchFamily="34" charset="0"/>
                <a:ea typeface="Cambria" pitchFamily="34" charset="-122"/>
                <a:cs typeface="Cambria" pitchFamily="34" charset="-120"/>
              </a:rPr>
              <a:t>Multi-Step Reasoning</a:t>
            </a:r>
            <a:endParaRPr lang="en-US" sz="1450" dirty="0"/>
          </a:p>
        </p:txBody>
      </p:sp>
      <p:sp>
        <p:nvSpPr>
          <p:cNvPr id="20" name="Text 18"/>
          <p:cNvSpPr txBox="1"/>
          <p:nvPr/>
        </p:nvSpPr>
        <p:spPr>
          <a:xfrm>
            <a:off x="6583680" y="3886200"/>
            <a:ext cx="2286000" cy="1188720"/>
          </a:xfrm>
          <a:prstGeom prst="rect">
            <a:avLst/>
          </a:prstGeom>
          <a:noFill/>
          <a:ln/>
        </p:spPr>
        <p:txBody>
          <a:bodyPr wrap="square" lIns="0" tIns="0" rIns="0" bIns="0" rtlCol="0" anchor="ctr"/>
          <a:lstStyle/>
          <a:p>
            <a:pPr marL="0" indent="0" algn="ctr">
              <a:lnSpc>
                <a:spcPct val="115000"/>
              </a:lnSpc>
              <a:buNone/>
            </a:pPr>
            <a:r>
              <a:rPr lang="en-US" sz="1150" dirty="0">
                <a:solidFill>
                  <a:srgbClr val="5B6E70"/>
                </a:solidFill>
                <a:latin typeface="Calibri" pitchFamily="34" charset="0"/>
                <a:ea typeface="Calibri" pitchFamily="34" charset="-122"/>
                <a:cs typeface="Calibri" pitchFamily="34" charset="-120"/>
              </a:rPr>
              <a:t>One test rarely gives the answer — the agent must plan a sequence of steps.</a:t>
            </a:r>
            <a:endParaRPr lang="en-US" sz="1150" dirty="0"/>
          </a:p>
        </p:txBody>
      </p:sp>
      <p:sp>
        <p:nvSpPr>
          <p:cNvPr id="21" name="Shape 19"/>
          <p:cNvSpPr/>
          <p:nvPr/>
        </p:nvSpPr>
        <p:spPr>
          <a:xfrm>
            <a:off x="9326880" y="1920240"/>
            <a:ext cx="2651760" cy="3291840"/>
          </a:xfrm>
          <a:prstGeom prst="roundRect">
            <a:avLst>
              <a:gd name="adj" fmla="val 2759"/>
            </a:avLst>
          </a:prstGeom>
          <a:solidFill>
            <a:srgbClr val="F0F7F6"/>
          </a:solidFill>
          <a:ln/>
          <a:effectLst>
            <a:outerShdw blurRad="76200" dist="25400" dir="5400000" algn="bl" rotWithShape="0">
              <a:srgbClr val="5B6E70">
                <a:alpha val="18000"/>
              </a:srgbClr>
            </a:outerShdw>
          </a:effectLst>
        </p:spPr>
      </p:sp>
      <p:sp>
        <p:nvSpPr>
          <p:cNvPr id="22" name="Shape 20"/>
          <p:cNvSpPr/>
          <p:nvPr/>
        </p:nvSpPr>
        <p:spPr>
          <a:xfrm>
            <a:off x="10241280" y="2240280"/>
            <a:ext cx="822960" cy="822960"/>
          </a:xfrm>
          <a:prstGeom prst="ellipse">
            <a:avLst/>
          </a:prstGeom>
          <a:solidFill>
            <a:srgbClr val="00A896"/>
          </a:solidFill>
          <a:ln/>
        </p:spPr>
      </p:sp>
      <p:sp>
        <p:nvSpPr>
          <p:cNvPr id="23" name="Text 21"/>
          <p:cNvSpPr txBox="1"/>
          <p:nvPr/>
        </p:nvSpPr>
        <p:spPr>
          <a:xfrm>
            <a:off x="10241280" y="2240280"/>
            <a:ext cx="822960" cy="822960"/>
          </a:xfrm>
          <a:prstGeom prst="rect">
            <a:avLst/>
          </a:prstGeom>
          <a:noFill/>
          <a:ln/>
        </p:spPr>
        <p:txBody>
          <a:bodyPr wrap="square" lIns="0" tIns="0" rIns="0" bIns="0" rtlCol="0" anchor="ctr"/>
          <a:lstStyle/>
          <a:p>
            <a:pPr marL="0" indent="0" algn="ctr">
              <a:buNone/>
            </a:pPr>
            <a:endParaRPr lang="en-US" sz="2200" dirty="0"/>
          </a:p>
        </p:txBody>
      </p:sp>
      <p:sp>
        <p:nvSpPr>
          <p:cNvPr id="24" name="Text 22"/>
          <p:cNvSpPr txBox="1"/>
          <p:nvPr/>
        </p:nvSpPr>
        <p:spPr>
          <a:xfrm>
            <a:off x="10241280" y="2240280"/>
            <a:ext cx="822960" cy="82296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5" name="Text 23"/>
          <p:cNvSpPr txBox="1"/>
          <p:nvPr/>
        </p:nvSpPr>
        <p:spPr>
          <a:xfrm>
            <a:off x="9509760" y="3246120"/>
            <a:ext cx="2286000" cy="640080"/>
          </a:xfrm>
          <a:prstGeom prst="rect">
            <a:avLst/>
          </a:prstGeom>
          <a:noFill/>
          <a:ln/>
        </p:spPr>
        <p:txBody>
          <a:bodyPr wrap="square" lIns="0" tIns="0" rIns="0" bIns="0" rtlCol="0" anchor="ctr"/>
          <a:lstStyle/>
          <a:p>
            <a:pPr marL="0" indent="0" algn="ctr">
              <a:buNone/>
            </a:pPr>
            <a:r>
              <a:rPr lang="en-US" sz="1450" b="1" dirty="0">
                <a:solidFill>
                  <a:srgbClr val="1B2B2C"/>
                </a:solidFill>
                <a:latin typeface="Cambria" pitchFamily="34" charset="0"/>
                <a:ea typeface="Cambria" pitchFamily="34" charset="-122"/>
                <a:cs typeface="Cambria" pitchFamily="34" charset="-120"/>
              </a:rPr>
              <a:t>Trade-off Driven</a:t>
            </a:r>
            <a:endParaRPr lang="en-US" sz="1450" dirty="0"/>
          </a:p>
        </p:txBody>
      </p:sp>
      <p:sp>
        <p:nvSpPr>
          <p:cNvPr id="26" name="Text 24"/>
          <p:cNvSpPr txBox="1"/>
          <p:nvPr/>
        </p:nvSpPr>
        <p:spPr>
          <a:xfrm>
            <a:off x="9509760" y="3886200"/>
            <a:ext cx="2286000" cy="1188720"/>
          </a:xfrm>
          <a:prstGeom prst="rect">
            <a:avLst/>
          </a:prstGeom>
          <a:noFill/>
          <a:ln/>
        </p:spPr>
        <p:txBody>
          <a:bodyPr wrap="square" lIns="0" tIns="0" rIns="0" bIns="0" rtlCol="0" anchor="ctr"/>
          <a:lstStyle/>
          <a:p>
            <a:pPr marL="0" indent="0" algn="ctr">
              <a:lnSpc>
                <a:spcPct val="115000"/>
              </a:lnSpc>
              <a:buNone/>
            </a:pPr>
            <a:r>
              <a:rPr lang="en-US" sz="1150" dirty="0">
                <a:solidFill>
                  <a:srgbClr val="5B6E70"/>
                </a:solidFill>
                <a:latin typeface="Calibri" pitchFamily="34" charset="0"/>
                <a:ea typeface="Calibri" pitchFamily="34" charset="-122"/>
                <a:cs typeface="Calibri" pitchFamily="34" charset="-120"/>
              </a:rPr>
              <a:t>Every option has a cost: risk, time, money — the agent must weigh all three.</a:t>
            </a:r>
            <a:endParaRPr lang="en-US" sz="1150" dirty="0"/>
          </a:p>
        </p:txBody>
      </p:sp>
      <p:sp>
        <p:nvSpPr>
          <p:cNvPr id="27" name="Text 25"/>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5</a:t>
            </a:r>
            <a:endParaRPr lang="en-US" sz="1000" dirty="0"/>
          </a:p>
        </p:txBody>
      </p:sp>
      <p:sp>
        <p:nvSpPr>
          <p:cNvPr id="28" name="Text 26"/>
          <p:cNvSpPr txBox="1"/>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5B6E70"/>
                </a:solidFill>
                <a:latin typeface="Calibri" pitchFamily="34" charset="0"/>
                <a:ea typeface="Calibri" pitchFamily="34" charset="-122"/>
                <a:cs typeface="Calibri" pitchFamily="34" charset="-120"/>
              </a:rPr>
              <a:t>Goal-Based Agent in Healthcare Diagnosis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lIns="0" tIns="0" rIns="0" bIns="0" rtlCol="0" anchor="ctr"/>
          <a:lstStyle/>
          <a:p>
            <a:pPr marL="0" indent="0">
              <a:buNone/>
            </a:pPr>
            <a:r>
              <a:rPr lang="en-US" sz="3000" b="1" dirty="0">
                <a:solidFill>
                  <a:srgbClr val="1B2B2C"/>
                </a:solidFill>
                <a:latin typeface="Cambria" pitchFamily="34" charset="0"/>
                <a:ea typeface="Cambria" pitchFamily="34" charset="-122"/>
                <a:cs typeface="Cambria" pitchFamily="34" charset="-120"/>
              </a:rPr>
              <a:t>Architecture of the Diagnostic Agent</a:t>
            </a:r>
            <a:endParaRPr lang="en-US" sz="3000" dirty="0"/>
          </a:p>
        </p:txBody>
      </p:sp>
      <p:sp>
        <p:nvSpPr>
          <p:cNvPr id="3" name="Text 1"/>
          <p:cNvSpPr txBox="1"/>
          <p:nvPr/>
        </p:nvSpPr>
        <p:spPr>
          <a:xfrm>
            <a:off x="548640" y="1005840"/>
            <a:ext cx="11091672" cy="365760"/>
          </a:xfrm>
          <a:prstGeom prst="rect">
            <a:avLst/>
          </a:prstGeom>
          <a:noFill/>
          <a:ln/>
        </p:spPr>
        <p:txBody>
          <a:bodyPr wrap="square" lIns="0" tIns="0" rIns="0" bIns="0"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From patient percepts to a recommended action</a:t>
            </a:r>
            <a:endParaRPr lang="en-US" sz="1400" dirty="0"/>
          </a:p>
        </p:txBody>
      </p:sp>
      <p:sp>
        <p:nvSpPr>
          <p:cNvPr id="4" name="Shape 2"/>
          <p:cNvSpPr/>
          <p:nvPr/>
        </p:nvSpPr>
        <p:spPr>
          <a:xfrm>
            <a:off x="548640" y="2286000"/>
            <a:ext cx="1965960" cy="1554480"/>
          </a:xfrm>
          <a:prstGeom prst="roundRect">
            <a:avLst>
              <a:gd name="adj" fmla="val 5882"/>
            </a:avLst>
          </a:prstGeom>
          <a:solidFill>
            <a:srgbClr val="028090"/>
          </a:solidFill>
          <a:ln/>
        </p:spPr>
      </p:sp>
      <p:sp>
        <p:nvSpPr>
          <p:cNvPr id="5" name="Text 3"/>
          <p:cNvSpPr txBox="1"/>
          <p:nvPr/>
        </p:nvSpPr>
        <p:spPr>
          <a:xfrm>
            <a:off x="640080" y="2450592"/>
            <a:ext cx="17830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PERCEPTS</a:t>
            </a:r>
            <a:endParaRPr lang="en-US" sz="1300" dirty="0"/>
          </a:p>
        </p:txBody>
      </p:sp>
      <p:sp>
        <p:nvSpPr>
          <p:cNvPr id="6" name="Text 4"/>
          <p:cNvSpPr txBox="1"/>
          <p:nvPr/>
        </p:nvSpPr>
        <p:spPr>
          <a:xfrm>
            <a:off x="658368" y="2971800"/>
            <a:ext cx="1746504" cy="777240"/>
          </a:xfrm>
          <a:prstGeom prst="rect">
            <a:avLst/>
          </a:prstGeom>
          <a:noFill/>
          <a:ln/>
        </p:spPr>
        <p:txBody>
          <a:bodyPr wrap="square" lIns="0" tIns="0" rIns="0" bIns="0" rtlCol="0" anchor="ctr"/>
          <a:lstStyle/>
          <a:p>
            <a:pPr marL="0" indent="0" algn="ctr">
              <a:lnSpc>
                <a:spcPct val="110000"/>
              </a:lnSpc>
              <a:buNone/>
            </a:pPr>
            <a:r>
              <a:rPr lang="en-US" sz="1050" dirty="0">
                <a:solidFill>
                  <a:srgbClr val="F1FBFA"/>
                </a:solidFill>
                <a:latin typeface="Calibri" pitchFamily="34" charset="0"/>
                <a:ea typeface="Calibri" pitchFamily="34" charset="-122"/>
                <a:cs typeface="Calibri" pitchFamily="34" charset="-120"/>
              </a:rPr>
              <a:t>Symptoms, vitals,</a:t>
            </a:r>
            <a:endParaRPr lang="en-US" sz="1050" dirty="0"/>
          </a:p>
          <a:p>
            <a:pPr marL="0" indent="0" algn="ctr">
              <a:lnSpc>
                <a:spcPct val="110000"/>
              </a:lnSpc>
              <a:buNone/>
            </a:pPr>
            <a:r>
              <a:rPr lang="en-US" sz="1050" dirty="0">
                <a:solidFill>
                  <a:srgbClr val="F1FBFA"/>
                </a:solidFill>
                <a:latin typeface="Calibri" pitchFamily="34" charset="0"/>
                <a:ea typeface="Calibri" pitchFamily="34" charset="-122"/>
                <a:cs typeface="Calibri" pitchFamily="34" charset="-120"/>
              </a:rPr>
              <a:t>history, lab results</a:t>
            </a:r>
            <a:endParaRPr lang="en-US" sz="1050" dirty="0"/>
          </a:p>
        </p:txBody>
      </p:sp>
      <p:sp>
        <p:nvSpPr>
          <p:cNvPr id="7" name="Shape 5"/>
          <p:cNvSpPr/>
          <p:nvPr/>
        </p:nvSpPr>
        <p:spPr>
          <a:xfrm>
            <a:off x="2514600" y="2953512"/>
            <a:ext cx="315468" cy="219456"/>
          </a:xfrm>
          <a:prstGeom prst="rightArrow">
            <a:avLst/>
          </a:prstGeom>
          <a:solidFill>
            <a:srgbClr val="5B6E70"/>
          </a:solidFill>
          <a:ln/>
        </p:spPr>
      </p:sp>
      <p:sp>
        <p:nvSpPr>
          <p:cNvPr id="8" name="Shape 6"/>
          <p:cNvSpPr/>
          <p:nvPr/>
        </p:nvSpPr>
        <p:spPr>
          <a:xfrm>
            <a:off x="2830068" y="2286000"/>
            <a:ext cx="1965960" cy="1554480"/>
          </a:xfrm>
          <a:prstGeom prst="roundRect">
            <a:avLst>
              <a:gd name="adj" fmla="val 5882"/>
            </a:avLst>
          </a:prstGeom>
          <a:solidFill>
            <a:srgbClr val="00A896"/>
          </a:solidFill>
          <a:ln/>
        </p:spPr>
      </p:sp>
      <p:sp>
        <p:nvSpPr>
          <p:cNvPr id="9" name="Text 7"/>
          <p:cNvSpPr txBox="1"/>
          <p:nvPr/>
        </p:nvSpPr>
        <p:spPr>
          <a:xfrm>
            <a:off x="2921508" y="2450592"/>
            <a:ext cx="17830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INTERNAL STATE</a:t>
            </a:r>
            <a:endParaRPr lang="en-US" sz="1300" dirty="0"/>
          </a:p>
        </p:txBody>
      </p:sp>
      <p:sp>
        <p:nvSpPr>
          <p:cNvPr id="10" name="Text 8"/>
          <p:cNvSpPr txBox="1"/>
          <p:nvPr/>
        </p:nvSpPr>
        <p:spPr>
          <a:xfrm>
            <a:off x="2939796" y="2971800"/>
            <a:ext cx="1746504" cy="777240"/>
          </a:xfrm>
          <a:prstGeom prst="rect">
            <a:avLst/>
          </a:prstGeom>
          <a:noFill/>
          <a:ln/>
        </p:spPr>
        <p:txBody>
          <a:bodyPr wrap="square" lIns="0" tIns="0" rIns="0" bIns="0" rtlCol="0" anchor="ctr"/>
          <a:lstStyle/>
          <a:p>
            <a:pPr marL="0" indent="0" algn="ctr">
              <a:lnSpc>
                <a:spcPct val="110000"/>
              </a:lnSpc>
              <a:buNone/>
            </a:pPr>
            <a:r>
              <a:rPr lang="en-US" sz="1050" dirty="0">
                <a:solidFill>
                  <a:srgbClr val="F1FBFA"/>
                </a:solidFill>
                <a:latin typeface="Calibri" pitchFamily="34" charset="0"/>
                <a:ea typeface="Calibri" pitchFamily="34" charset="-122"/>
                <a:cs typeface="Calibri" pitchFamily="34" charset="-120"/>
              </a:rPr>
              <a:t>Agent's model of</a:t>
            </a:r>
            <a:endParaRPr lang="en-US" sz="1050" dirty="0"/>
          </a:p>
          <a:p>
            <a:pPr marL="0" indent="0" algn="ctr">
              <a:lnSpc>
                <a:spcPct val="110000"/>
              </a:lnSpc>
              <a:buNone/>
            </a:pPr>
            <a:r>
              <a:rPr lang="en-US" sz="1050" dirty="0">
                <a:solidFill>
                  <a:srgbClr val="F1FBFA"/>
                </a:solidFill>
                <a:latin typeface="Calibri" pitchFamily="34" charset="0"/>
                <a:ea typeface="Calibri" pitchFamily="34" charset="-122"/>
                <a:cs typeface="Calibri" pitchFamily="34" charset="-120"/>
              </a:rPr>
              <a:t>the patient</a:t>
            </a:r>
            <a:endParaRPr lang="en-US" sz="1050" dirty="0"/>
          </a:p>
        </p:txBody>
      </p:sp>
      <p:sp>
        <p:nvSpPr>
          <p:cNvPr id="11" name="Shape 9"/>
          <p:cNvSpPr/>
          <p:nvPr/>
        </p:nvSpPr>
        <p:spPr>
          <a:xfrm>
            <a:off x="4796028" y="2953512"/>
            <a:ext cx="315468" cy="219456"/>
          </a:xfrm>
          <a:prstGeom prst="rightArrow">
            <a:avLst/>
          </a:prstGeom>
          <a:solidFill>
            <a:srgbClr val="5B6E70"/>
          </a:solidFill>
          <a:ln/>
        </p:spPr>
      </p:sp>
      <p:sp>
        <p:nvSpPr>
          <p:cNvPr id="12" name="Shape 10"/>
          <p:cNvSpPr/>
          <p:nvPr/>
        </p:nvSpPr>
        <p:spPr>
          <a:xfrm>
            <a:off x="5111496" y="2286000"/>
            <a:ext cx="1965960" cy="1554480"/>
          </a:xfrm>
          <a:prstGeom prst="roundRect">
            <a:avLst>
              <a:gd name="adj" fmla="val 5882"/>
            </a:avLst>
          </a:prstGeom>
          <a:solidFill>
            <a:srgbClr val="02C39A"/>
          </a:solidFill>
          <a:ln/>
        </p:spPr>
      </p:sp>
      <p:sp>
        <p:nvSpPr>
          <p:cNvPr id="13" name="Text 11"/>
          <p:cNvSpPr txBox="1"/>
          <p:nvPr/>
        </p:nvSpPr>
        <p:spPr>
          <a:xfrm>
            <a:off x="5202936" y="2450592"/>
            <a:ext cx="17830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GOAL</a:t>
            </a:r>
            <a:endParaRPr lang="en-US" sz="1300" dirty="0"/>
          </a:p>
          <a:p>
            <a:pPr marL="0" indent="0" algn="ctr">
              <a:buNone/>
            </a:pPr>
            <a:r>
              <a:rPr lang="en-US" sz="1300" b="1" dirty="0">
                <a:solidFill>
                  <a:srgbClr val="FFFFFF"/>
                </a:solidFill>
                <a:latin typeface="Cambria" pitchFamily="34" charset="0"/>
                <a:ea typeface="Cambria" pitchFamily="34" charset="-122"/>
                <a:cs typeface="Cambria" pitchFamily="34" charset="-120"/>
              </a:rPr>
              <a:t>FORMULATION</a:t>
            </a:r>
            <a:endParaRPr lang="en-US" sz="1300" dirty="0"/>
          </a:p>
        </p:txBody>
      </p:sp>
      <p:sp>
        <p:nvSpPr>
          <p:cNvPr id="14" name="Text 12"/>
          <p:cNvSpPr txBox="1"/>
          <p:nvPr/>
        </p:nvSpPr>
        <p:spPr>
          <a:xfrm>
            <a:off x="5221224" y="2971800"/>
            <a:ext cx="1746504" cy="777240"/>
          </a:xfrm>
          <a:prstGeom prst="rect">
            <a:avLst/>
          </a:prstGeom>
          <a:noFill/>
          <a:ln/>
        </p:spPr>
        <p:txBody>
          <a:bodyPr wrap="square" lIns="0" tIns="0" rIns="0" bIns="0" rtlCol="0" anchor="ctr"/>
          <a:lstStyle/>
          <a:p>
            <a:pPr marL="0" indent="0" algn="ctr">
              <a:lnSpc>
                <a:spcPct val="110000"/>
              </a:lnSpc>
              <a:buNone/>
            </a:pPr>
            <a:r>
              <a:rPr lang="en-US" sz="1050" dirty="0">
                <a:solidFill>
                  <a:srgbClr val="F1FBFA"/>
                </a:solidFill>
                <a:latin typeface="Calibri" pitchFamily="34" charset="0"/>
                <a:ea typeface="Calibri" pitchFamily="34" charset="-122"/>
                <a:cs typeface="Calibri" pitchFamily="34" charset="-120"/>
              </a:rPr>
              <a:t>e.g., "Confirm or</a:t>
            </a:r>
            <a:endParaRPr lang="en-US" sz="1050" dirty="0"/>
          </a:p>
          <a:p>
            <a:pPr marL="0" indent="0" algn="ctr">
              <a:lnSpc>
                <a:spcPct val="110000"/>
              </a:lnSpc>
              <a:buNone/>
            </a:pPr>
            <a:r>
              <a:rPr lang="en-US" sz="1050" dirty="0">
                <a:solidFill>
                  <a:srgbClr val="F1FBFA"/>
                </a:solidFill>
                <a:latin typeface="Calibri" pitchFamily="34" charset="0"/>
                <a:ea typeface="Calibri" pitchFamily="34" charset="-122"/>
                <a:cs typeface="Calibri" pitchFamily="34" charset="-120"/>
              </a:rPr>
              <a:t>rule out condition X"</a:t>
            </a:r>
            <a:endParaRPr lang="en-US" sz="1050" dirty="0"/>
          </a:p>
        </p:txBody>
      </p:sp>
      <p:sp>
        <p:nvSpPr>
          <p:cNvPr id="15" name="Shape 13"/>
          <p:cNvSpPr/>
          <p:nvPr/>
        </p:nvSpPr>
        <p:spPr>
          <a:xfrm>
            <a:off x="7077456" y="2953512"/>
            <a:ext cx="315468" cy="219456"/>
          </a:xfrm>
          <a:prstGeom prst="rightArrow">
            <a:avLst/>
          </a:prstGeom>
          <a:solidFill>
            <a:srgbClr val="5B6E70"/>
          </a:solidFill>
          <a:ln/>
        </p:spPr>
      </p:sp>
      <p:sp>
        <p:nvSpPr>
          <p:cNvPr id="16" name="Shape 14"/>
          <p:cNvSpPr/>
          <p:nvPr/>
        </p:nvSpPr>
        <p:spPr>
          <a:xfrm>
            <a:off x="7392924" y="2286000"/>
            <a:ext cx="1965960" cy="1554480"/>
          </a:xfrm>
          <a:prstGeom prst="roundRect">
            <a:avLst>
              <a:gd name="adj" fmla="val 5882"/>
            </a:avLst>
          </a:prstGeom>
          <a:solidFill>
            <a:srgbClr val="00A896"/>
          </a:solidFill>
          <a:ln/>
        </p:spPr>
      </p:sp>
      <p:sp>
        <p:nvSpPr>
          <p:cNvPr id="17" name="Text 15"/>
          <p:cNvSpPr txBox="1"/>
          <p:nvPr/>
        </p:nvSpPr>
        <p:spPr>
          <a:xfrm>
            <a:off x="7484364" y="2450592"/>
            <a:ext cx="17830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PLANNING /</a:t>
            </a:r>
            <a:endParaRPr lang="en-US" sz="1300" dirty="0"/>
          </a:p>
          <a:p>
            <a:pPr marL="0" indent="0" algn="ctr">
              <a:buNone/>
            </a:pPr>
            <a:r>
              <a:rPr lang="en-US" sz="1300" b="1" dirty="0">
                <a:solidFill>
                  <a:srgbClr val="FFFFFF"/>
                </a:solidFill>
                <a:latin typeface="Cambria" pitchFamily="34" charset="0"/>
                <a:ea typeface="Cambria" pitchFamily="34" charset="-122"/>
                <a:cs typeface="Cambria" pitchFamily="34" charset="-120"/>
              </a:rPr>
              <a:t>SEARCH</a:t>
            </a:r>
            <a:endParaRPr lang="en-US" sz="1300" dirty="0"/>
          </a:p>
        </p:txBody>
      </p:sp>
      <p:sp>
        <p:nvSpPr>
          <p:cNvPr id="18" name="Text 16"/>
          <p:cNvSpPr txBox="1"/>
          <p:nvPr/>
        </p:nvSpPr>
        <p:spPr>
          <a:xfrm>
            <a:off x="7502652" y="2971800"/>
            <a:ext cx="1746504" cy="777240"/>
          </a:xfrm>
          <a:prstGeom prst="rect">
            <a:avLst/>
          </a:prstGeom>
          <a:noFill/>
          <a:ln/>
        </p:spPr>
        <p:txBody>
          <a:bodyPr wrap="square" lIns="0" tIns="0" rIns="0" bIns="0" rtlCol="0" anchor="ctr"/>
          <a:lstStyle/>
          <a:p>
            <a:pPr marL="0" indent="0" algn="ctr">
              <a:lnSpc>
                <a:spcPct val="110000"/>
              </a:lnSpc>
              <a:buNone/>
            </a:pPr>
            <a:r>
              <a:rPr lang="en-US" sz="1050" dirty="0">
                <a:solidFill>
                  <a:srgbClr val="F1FBFA"/>
                </a:solidFill>
                <a:latin typeface="Calibri" pitchFamily="34" charset="0"/>
                <a:ea typeface="Calibri" pitchFamily="34" charset="-122"/>
                <a:cs typeface="Calibri" pitchFamily="34" charset="-120"/>
              </a:rPr>
              <a:t>Explore possible</a:t>
            </a:r>
            <a:endParaRPr lang="en-US" sz="1050" dirty="0"/>
          </a:p>
          <a:p>
            <a:pPr marL="0" indent="0" algn="ctr">
              <a:lnSpc>
                <a:spcPct val="110000"/>
              </a:lnSpc>
              <a:buNone/>
            </a:pPr>
            <a:r>
              <a:rPr lang="en-US" sz="1050" dirty="0">
                <a:solidFill>
                  <a:srgbClr val="F1FBFA"/>
                </a:solidFill>
                <a:latin typeface="Calibri" pitchFamily="34" charset="0"/>
                <a:ea typeface="Calibri" pitchFamily="34" charset="-122"/>
                <a:cs typeface="Calibri" pitchFamily="34" charset="-120"/>
              </a:rPr>
              <a:t>test–treatment paths</a:t>
            </a:r>
            <a:endParaRPr lang="en-US" sz="1050" dirty="0"/>
          </a:p>
        </p:txBody>
      </p:sp>
      <p:sp>
        <p:nvSpPr>
          <p:cNvPr id="19" name="Shape 17"/>
          <p:cNvSpPr/>
          <p:nvPr/>
        </p:nvSpPr>
        <p:spPr>
          <a:xfrm>
            <a:off x="9358884" y="2953512"/>
            <a:ext cx="315468" cy="219456"/>
          </a:xfrm>
          <a:prstGeom prst="rightArrow">
            <a:avLst/>
          </a:prstGeom>
          <a:solidFill>
            <a:srgbClr val="5B6E70"/>
          </a:solidFill>
          <a:ln/>
        </p:spPr>
      </p:sp>
      <p:sp>
        <p:nvSpPr>
          <p:cNvPr id="20" name="Shape 18"/>
          <p:cNvSpPr/>
          <p:nvPr/>
        </p:nvSpPr>
        <p:spPr>
          <a:xfrm>
            <a:off x="9674352" y="2286000"/>
            <a:ext cx="1965960" cy="1554480"/>
          </a:xfrm>
          <a:prstGeom prst="roundRect">
            <a:avLst>
              <a:gd name="adj" fmla="val 5882"/>
            </a:avLst>
          </a:prstGeom>
          <a:solidFill>
            <a:srgbClr val="028090"/>
          </a:solidFill>
          <a:ln/>
        </p:spPr>
      </p:sp>
      <p:sp>
        <p:nvSpPr>
          <p:cNvPr id="21" name="Text 19"/>
          <p:cNvSpPr txBox="1"/>
          <p:nvPr/>
        </p:nvSpPr>
        <p:spPr>
          <a:xfrm>
            <a:off x="9765792" y="2450592"/>
            <a:ext cx="17830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ACTION</a:t>
            </a:r>
            <a:endParaRPr lang="en-US" sz="1300" dirty="0"/>
          </a:p>
          <a:p>
            <a:pPr marL="0" indent="0" algn="ctr">
              <a:buNone/>
            </a:pPr>
            <a:r>
              <a:rPr lang="en-US" sz="1300" b="1" dirty="0">
                <a:solidFill>
                  <a:srgbClr val="FFFFFF"/>
                </a:solidFill>
                <a:latin typeface="Cambria" pitchFamily="34" charset="0"/>
                <a:ea typeface="Cambria" pitchFamily="34" charset="-122"/>
                <a:cs typeface="Cambria" pitchFamily="34" charset="-120"/>
              </a:rPr>
              <a:t>SELECTION</a:t>
            </a:r>
            <a:endParaRPr lang="en-US" sz="1300" dirty="0"/>
          </a:p>
        </p:txBody>
      </p:sp>
      <p:sp>
        <p:nvSpPr>
          <p:cNvPr id="22" name="Text 20"/>
          <p:cNvSpPr txBox="1"/>
          <p:nvPr/>
        </p:nvSpPr>
        <p:spPr>
          <a:xfrm>
            <a:off x="9784080" y="2971800"/>
            <a:ext cx="1746504" cy="777240"/>
          </a:xfrm>
          <a:prstGeom prst="rect">
            <a:avLst/>
          </a:prstGeom>
          <a:noFill/>
          <a:ln/>
        </p:spPr>
        <p:txBody>
          <a:bodyPr wrap="square" lIns="0" tIns="0" rIns="0" bIns="0" rtlCol="0" anchor="ctr"/>
          <a:lstStyle/>
          <a:p>
            <a:pPr marL="0" indent="0" algn="ctr">
              <a:lnSpc>
                <a:spcPct val="110000"/>
              </a:lnSpc>
              <a:buNone/>
            </a:pPr>
            <a:r>
              <a:rPr lang="en-US" sz="1050" dirty="0">
                <a:solidFill>
                  <a:srgbClr val="F1FBFA"/>
                </a:solidFill>
                <a:latin typeface="Calibri" pitchFamily="34" charset="0"/>
                <a:ea typeface="Calibri" pitchFamily="34" charset="-122"/>
                <a:cs typeface="Calibri" pitchFamily="34" charset="-120"/>
              </a:rPr>
              <a:t>Pick the best next</a:t>
            </a:r>
            <a:endParaRPr lang="en-US" sz="1050" dirty="0"/>
          </a:p>
          <a:p>
            <a:pPr marL="0" indent="0" algn="ctr">
              <a:lnSpc>
                <a:spcPct val="110000"/>
              </a:lnSpc>
              <a:buNone/>
            </a:pPr>
            <a:r>
              <a:rPr lang="en-US" sz="1050" dirty="0">
                <a:solidFill>
                  <a:srgbClr val="F1FBFA"/>
                </a:solidFill>
                <a:latin typeface="Calibri" pitchFamily="34" charset="0"/>
                <a:ea typeface="Calibri" pitchFamily="34" charset="-122"/>
                <a:cs typeface="Calibri" pitchFamily="34" charset="-120"/>
              </a:rPr>
              <a:t>step toward the goal</a:t>
            </a:r>
            <a:endParaRPr lang="en-US" sz="1050" dirty="0"/>
          </a:p>
        </p:txBody>
      </p:sp>
      <p:sp>
        <p:nvSpPr>
          <p:cNvPr id="23" name="Text 21"/>
          <p:cNvSpPr txBox="1"/>
          <p:nvPr/>
        </p:nvSpPr>
        <p:spPr>
          <a:xfrm>
            <a:off x="548640" y="4096512"/>
            <a:ext cx="11091672" cy="365760"/>
          </a:xfrm>
          <a:prstGeom prst="rect">
            <a:avLst/>
          </a:prstGeom>
          <a:noFill/>
          <a:ln/>
        </p:spPr>
        <p:txBody>
          <a:bodyPr wrap="square" lIns="0" tIns="0" rIns="0" bIns="0" rtlCol="0" anchor="ctr"/>
          <a:lstStyle/>
          <a:p>
            <a:pPr marL="0" indent="0" algn="ctr">
              <a:buNone/>
            </a:pPr>
            <a:r>
              <a:rPr lang="en-US" sz="1350" i="1" dirty="0">
                <a:solidFill>
                  <a:srgbClr val="028090"/>
                </a:solidFill>
                <a:latin typeface="Calibri" pitchFamily="34" charset="0"/>
                <a:ea typeface="Calibri" pitchFamily="34" charset="-122"/>
                <a:cs typeface="Calibri" pitchFamily="34" charset="-120"/>
              </a:rPr>
              <a:t>ACTUATORS →  Recommend tests, alerts, or a treatment plan back to the clinical team</a:t>
            </a:r>
            <a:endParaRPr lang="en-US" sz="1350" dirty="0"/>
          </a:p>
        </p:txBody>
      </p:sp>
      <p:sp>
        <p:nvSpPr>
          <p:cNvPr id="24" name="Shape 22"/>
          <p:cNvSpPr/>
          <p:nvPr/>
        </p:nvSpPr>
        <p:spPr>
          <a:xfrm>
            <a:off x="548640" y="4709160"/>
            <a:ext cx="11091672" cy="1234440"/>
          </a:xfrm>
          <a:prstGeom prst="roundRect">
            <a:avLst>
              <a:gd name="adj" fmla="val 5926"/>
            </a:avLst>
          </a:prstGeom>
          <a:solidFill>
            <a:srgbClr val="F0F7F6"/>
          </a:solidFill>
          <a:ln/>
          <a:effectLst>
            <a:outerShdw blurRad="76200" dist="25400" dir="5400000" algn="bl" rotWithShape="0">
              <a:srgbClr val="5B6E70">
                <a:alpha val="18000"/>
              </a:srgbClr>
            </a:outerShdw>
          </a:effectLst>
        </p:spPr>
      </p:sp>
      <p:sp>
        <p:nvSpPr>
          <p:cNvPr id="25" name="Text 23"/>
          <p:cNvSpPr txBox="1"/>
          <p:nvPr/>
        </p:nvSpPr>
        <p:spPr>
          <a:xfrm>
            <a:off x="822960" y="4709160"/>
            <a:ext cx="10543032" cy="1234440"/>
          </a:xfrm>
          <a:prstGeom prst="rect">
            <a:avLst/>
          </a:prstGeom>
          <a:noFill/>
          <a:ln/>
        </p:spPr>
        <p:txBody>
          <a:bodyPr wrap="square" lIns="0" tIns="0" rIns="0" bIns="0" rtlCol="0" anchor="ctr"/>
          <a:lstStyle/>
          <a:p>
            <a:pPr marL="0" indent="0">
              <a:lnSpc>
                <a:spcPct val="120000"/>
              </a:lnSpc>
              <a:buNone/>
            </a:pPr>
            <a:r>
              <a:rPr lang="en-US" sz="1350" dirty="0">
                <a:solidFill>
                  <a:srgbClr val="1B2B2C"/>
                </a:solidFill>
                <a:latin typeface="Calibri" pitchFamily="34" charset="0"/>
                <a:ea typeface="Calibri" pitchFamily="34" charset="-122"/>
                <a:cs typeface="Calibri" pitchFamily="34" charset="-120"/>
              </a:rPr>
              <a:t>This loop repeats continuously: as new data arrives (a new lab result, a change in vitals), the agent re-evaluates its internal state and may re-plan — always steering back toward its current goal.</a:t>
            </a:r>
            <a:endParaRPr lang="en-US" sz="1350" dirty="0"/>
          </a:p>
        </p:txBody>
      </p:sp>
      <p:sp>
        <p:nvSpPr>
          <p:cNvPr id="26" name="Text 24"/>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6</a:t>
            </a:r>
            <a:endParaRPr lang="en-US" sz="1000" dirty="0"/>
          </a:p>
        </p:txBody>
      </p:sp>
      <p:sp>
        <p:nvSpPr>
          <p:cNvPr id="27" name="Text 25"/>
          <p:cNvSpPr txBox="1"/>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5B6E70"/>
                </a:solidFill>
                <a:latin typeface="Calibri" pitchFamily="34" charset="0"/>
                <a:ea typeface="Calibri" pitchFamily="34" charset="-122"/>
                <a:cs typeface="Calibri" pitchFamily="34" charset="-120"/>
              </a:rPr>
              <a:t>Goal-Based Agent in Healthcare Diagnosis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lIns="0" tIns="0" rIns="0" bIns="0" rtlCol="0" anchor="ctr"/>
          <a:lstStyle/>
          <a:p>
            <a:pPr marL="0" indent="0">
              <a:buNone/>
            </a:pPr>
            <a:r>
              <a:rPr lang="en-US" sz="3000" b="1" dirty="0">
                <a:solidFill>
                  <a:srgbClr val="1B2B2C"/>
                </a:solidFill>
                <a:latin typeface="Cambria" pitchFamily="34" charset="0"/>
                <a:ea typeface="Cambria" pitchFamily="34" charset="-122"/>
                <a:cs typeface="Cambria" pitchFamily="34" charset="-120"/>
              </a:rPr>
              <a:t>Step 1 — Setting Diagnostic Goals</a:t>
            </a:r>
            <a:endParaRPr lang="en-US" sz="3000" dirty="0"/>
          </a:p>
        </p:txBody>
      </p:sp>
      <p:sp>
        <p:nvSpPr>
          <p:cNvPr id="3" name="Text 1"/>
          <p:cNvSpPr txBox="1"/>
          <p:nvPr/>
        </p:nvSpPr>
        <p:spPr>
          <a:xfrm>
            <a:off x="548640" y="1828800"/>
            <a:ext cx="6126480" cy="4023360"/>
          </a:xfrm>
          <a:prstGeom prst="rect">
            <a:avLst/>
          </a:prstGeom>
          <a:noFill/>
          <a:ln/>
        </p:spPr>
        <p:txBody>
          <a:bodyPr wrap="square" lIns="0" tIns="0" rIns="0" bIns="0" rtlCol="0" anchor="t"/>
          <a:lstStyle/>
          <a:p>
            <a:pPr marL="228600" indent="-228600">
              <a:lnSpc>
                <a:spcPct val="108000"/>
              </a:lnSpc>
              <a:spcAft>
                <a:spcPts val="1600"/>
              </a:spcAft>
              <a:buSzPct val="100000"/>
              <a:buChar char="•"/>
            </a:pPr>
            <a:r>
              <a:rPr lang="en-US" sz="1550" dirty="0">
                <a:solidFill>
                  <a:srgbClr val="1B2B2C"/>
                </a:solidFill>
                <a:latin typeface="Calibri" pitchFamily="34" charset="0"/>
                <a:ea typeface="Calibri" pitchFamily="34" charset="-122"/>
                <a:cs typeface="Calibri" pitchFamily="34" charset="-120"/>
              </a:rPr>
              <a:t>A goal is the target health outcome the agent works toward</a:t>
            </a:r>
            <a:endParaRPr lang="en-US" sz="1550" dirty="0"/>
          </a:p>
          <a:p>
            <a:pPr marL="228600" indent="-228600">
              <a:lnSpc>
                <a:spcPct val="108000"/>
              </a:lnSpc>
              <a:spcAft>
                <a:spcPts val="1600"/>
              </a:spcAft>
              <a:buSzPct val="100000"/>
              <a:buChar char="•"/>
            </a:pPr>
            <a:r>
              <a:rPr lang="en-US" sz="1550" dirty="0">
                <a:solidFill>
                  <a:srgbClr val="1B2B2C"/>
                </a:solidFill>
                <a:latin typeface="Calibri" pitchFamily="34" charset="0"/>
                <a:ea typeface="Calibri" pitchFamily="34" charset="-122"/>
                <a:cs typeface="Calibri" pitchFamily="34" charset="-120"/>
              </a:rPr>
              <a:t>Examples: confirm a suspected disease, rule out a life-threatening cause, or stabilize vital signs</a:t>
            </a:r>
            <a:endParaRPr lang="en-US" sz="1550" dirty="0"/>
          </a:p>
          <a:p>
            <a:pPr marL="228600" indent="-228600">
              <a:lnSpc>
                <a:spcPct val="108000"/>
              </a:lnSpc>
              <a:spcAft>
                <a:spcPts val="1600"/>
              </a:spcAft>
              <a:buSzPct val="100000"/>
              <a:buChar char="•"/>
            </a:pPr>
            <a:r>
              <a:rPr lang="en-US" sz="1550" dirty="0">
                <a:solidFill>
                  <a:srgbClr val="1B2B2C"/>
                </a:solidFill>
                <a:latin typeface="Calibri" pitchFamily="34" charset="0"/>
                <a:ea typeface="Calibri" pitchFamily="34" charset="-122"/>
                <a:cs typeface="Calibri" pitchFamily="34" charset="-120"/>
              </a:rPr>
              <a:t>Goals are prioritized by urgency — the most dangerous possibility is checked first</a:t>
            </a:r>
            <a:endParaRPr lang="en-US" sz="1550" dirty="0"/>
          </a:p>
          <a:p>
            <a:pPr marL="228600" indent="-228600">
              <a:lnSpc>
                <a:spcPct val="108000"/>
              </a:lnSpc>
              <a:spcAft>
                <a:spcPts val="1600"/>
              </a:spcAft>
              <a:buSzPct val="100000"/>
              <a:buChar char="•"/>
            </a:pPr>
            <a:r>
              <a:rPr lang="en-US" sz="1550" dirty="0">
                <a:solidFill>
                  <a:srgbClr val="1B2B2C"/>
                </a:solidFill>
                <a:latin typeface="Calibri" pitchFamily="34" charset="0"/>
                <a:ea typeface="Calibri" pitchFamily="34" charset="-122"/>
                <a:cs typeface="Calibri" pitchFamily="34" charset="-120"/>
              </a:rPr>
              <a:t>One master goal can break into sub-goals (e.g., "rule out heart attack" → check ECG, then troponin levels)</a:t>
            </a:r>
            <a:endParaRPr lang="en-US" sz="1550" dirty="0"/>
          </a:p>
        </p:txBody>
      </p:sp>
      <p:sp>
        <p:nvSpPr>
          <p:cNvPr id="4" name="Shape 2"/>
          <p:cNvSpPr/>
          <p:nvPr/>
        </p:nvSpPr>
        <p:spPr>
          <a:xfrm>
            <a:off x="7040880" y="1828800"/>
            <a:ext cx="4572000" cy="4023360"/>
          </a:xfrm>
          <a:prstGeom prst="roundRect">
            <a:avLst>
              <a:gd name="adj" fmla="val 1818"/>
            </a:avLst>
          </a:prstGeom>
          <a:solidFill>
            <a:srgbClr val="00A896"/>
          </a:solidFill>
          <a:ln/>
          <a:effectLst>
            <a:outerShdw blurRad="76200" dist="25400" dir="5400000" algn="bl" rotWithShape="0">
              <a:srgbClr val="5B6E70">
                <a:alpha val="18000"/>
              </a:srgbClr>
            </a:outerShdw>
          </a:effectLst>
        </p:spPr>
      </p:sp>
      <p:sp>
        <p:nvSpPr>
          <p:cNvPr id="5" name="Text 3"/>
          <p:cNvSpPr txBox="1"/>
          <p:nvPr/>
        </p:nvSpPr>
        <p:spPr>
          <a:xfrm>
            <a:off x="7315200" y="2057400"/>
            <a:ext cx="4023360" cy="320040"/>
          </a:xfrm>
          <a:prstGeom prst="rect">
            <a:avLst/>
          </a:prstGeom>
          <a:noFill/>
          <a:ln/>
        </p:spPr>
        <p:txBody>
          <a:bodyPr wrap="square" lIns="0" tIns="0" rIns="0" bIns="0" rtlCol="0" anchor="ctr"/>
          <a:lstStyle/>
          <a:p>
            <a:pPr marL="0" indent="0">
              <a:buNone/>
            </a:pPr>
            <a:r>
              <a:rPr lang="en-US" sz="1200" b="1" dirty="0">
                <a:solidFill>
                  <a:srgbClr val="DFF7F1"/>
                </a:solidFill>
                <a:latin typeface="Calibri" pitchFamily="34" charset="0"/>
                <a:ea typeface="Calibri" pitchFamily="34" charset="-122"/>
                <a:cs typeface="Calibri" pitchFamily="34" charset="-120"/>
              </a:rPr>
              <a:t>REAL-TIME EXAMPLE</a:t>
            </a:r>
            <a:endParaRPr lang="en-US" sz="1200" dirty="0"/>
          </a:p>
        </p:txBody>
      </p:sp>
      <p:sp>
        <p:nvSpPr>
          <p:cNvPr id="6" name="Text 4"/>
          <p:cNvSpPr txBox="1"/>
          <p:nvPr/>
        </p:nvSpPr>
        <p:spPr>
          <a:xfrm>
            <a:off x="7315200" y="2423160"/>
            <a:ext cx="4023360" cy="50292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Patient arrives with chest pain</a:t>
            </a:r>
            <a:endParaRPr lang="en-US" sz="1800" dirty="0"/>
          </a:p>
        </p:txBody>
      </p:sp>
      <p:sp>
        <p:nvSpPr>
          <p:cNvPr id="7" name="Text 5"/>
          <p:cNvSpPr txBox="1"/>
          <p:nvPr/>
        </p:nvSpPr>
        <p:spPr>
          <a:xfrm>
            <a:off x="7315200" y="3017520"/>
            <a:ext cx="4023360" cy="2651760"/>
          </a:xfrm>
          <a:prstGeom prst="rect">
            <a:avLst/>
          </a:prstGeom>
          <a:noFill/>
          <a:ln/>
        </p:spPr>
        <p:txBody>
          <a:bodyPr wrap="square" lIns="0" tIns="0" rIns="0" bIns="0" rtlCol="0" anchor="ctr"/>
          <a:lstStyle/>
          <a:p>
            <a:pPr marL="0" indent="0">
              <a:lnSpc>
                <a:spcPct val="125000"/>
              </a:lnSpc>
              <a:buNone/>
            </a:pPr>
            <a:r>
              <a:rPr lang="en-US" sz="1350" dirty="0">
                <a:solidFill>
                  <a:srgbClr val="F1FBFA"/>
                </a:solidFill>
                <a:latin typeface="Calibri" pitchFamily="34" charset="0"/>
                <a:ea typeface="Calibri" pitchFamily="34" charset="-122"/>
                <a:cs typeface="Calibri" pitchFamily="34" charset="-120"/>
              </a:rPr>
              <a:t>The agent's goal isn't vague — it's specific and time-bound:</a:t>
            </a:r>
            <a:endParaRPr lang="en-US" sz="1350" dirty="0"/>
          </a:p>
          <a:p>
            <a:pPr marL="0" indent="0">
              <a:lnSpc>
                <a:spcPct val="125000"/>
              </a:lnSpc>
              <a:buNone/>
            </a:pPr>
            <a:endParaRPr lang="en-US" sz="1350" dirty="0"/>
          </a:p>
          <a:p>
            <a:pPr marL="0" indent="0">
              <a:lnSpc>
                <a:spcPct val="125000"/>
              </a:lnSpc>
              <a:buNone/>
            </a:pPr>
            <a:r>
              <a:rPr lang="en-US" sz="1350" dirty="0">
                <a:solidFill>
                  <a:srgbClr val="F1FBFA"/>
                </a:solidFill>
                <a:latin typeface="Calibri" pitchFamily="34" charset="0"/>
                <a:ea typeface="Calibri" pitchFamily="34" charset="-122"/>
                <a:cs typeface="Calibri" pitchFamily="34" charset="-120"/>
              </a:rPr>
              <a:t>"Identify or rule out a heart attack (MI) within 10 minutes."</a:t>
            </a:r>
            <a:endParaRPr lang="en-US" sz="1350" dirty="0"/>
          </a:p>
          <a:p>
            <a:pPr marL="0" indent="0">
              <a:lnSpc>
                <a:spcPct val="125000"/>
              </a:lnSpc>
              <a:buNone/>
            </a:pPr>
            <a:endParaRPr lang="en-US" sz="1350" dirty="0"/>
          </a:p>
          <a:p>
            <a:pPr marL="0" indent="0">
              <a:lnSpc>
                <a:spcPct val="125000"/>
              </a:lnSpc>
              <a:buNone/>
            </a:pPr>
            <a:r>
              <a:rPr lang="en-US" sz="1350" dirty="0">
                <a:solidFill>
                  <a:srgbClr val="F1FBFA"/>
                </a:solidFill>
                <a:latin typeface="Calibri" pitchFamily="34" charset="0"/>
                <a:ea typeface="Calibri" pitchFamily="34" charset="-122"/>
                <a:cs typeface="Calibri" pitchFamily="34" charset="-120"/>
              </a:rPr>
              <a:t>Everything the agent does next — which tests to request, in what order — is driven by this single, clear goal.</a:t>
            </a:r>
            <a:endParaRPr lang="en-US" sz="1350" dirty="0"/>
          </a:p>
        </p:txBody>
      </p:sp>
      <p:sp>
        <p:nvSpPr>
          <p:cNvPr id="8" name="Text 6"/>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7</a:t>
            </a:r>
            <a:endParaRPr lang="en-US" sz="1000" dirty="0"/>
          </a:p>
        </p:txBody>
      </p:sp>
      <p:sp>
        <p:nvSpPr>
          <p:cNvPr id="9" name="Text 7"/>
          <p:cNvSpPr txBox="1"/>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5B6E70"/>
                </a:solidFill>
                <a:latin typeface="Calibri" pitchFamily="34" charset="0"/>
                <a:ea typeface="Calibri" pitchFamily="34" charset="-122"/>
                <a:cs typeface="Calibri" pitchFamily="34" charset="-120"/>
              </a:rPr>
              <a:t>Goal-Based Agent in Healthcare Diagnosis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lIns="0" tIns="0" rIns="0" bIns="0" rtlCol="0" anchor="ctr"/>
          <a:lstStyle/>
          <a:p>
            <a:pPr marL="0" indent="0">
              <a:buNone/>
            </a:pPr>
            <a:r>
              <a:rPr lang="en-US" sz="3000" b="1" dirty="0">
                <a:solidFill>
                  <a:srgbClr val="1B2B2C"/>
                </a:solidFill>
                <a:latin typeface="Cambria" pitchFamily="34" charset="0"/>
                <a:ea typeface="Cambria" pitchFamily="34" charset="-122"/>
                <a:cs typeface="Cambria" pitchFamily="34" charset="-120"/>
              </a:rPr>
              <a:t>Step 2 — Evaluating Patient Data</a:t>
            </a:r>
            <a:endParaRPr lang="en-US" sz="3000" dirty="0"/>
          </a:p>
        </p:txBody>
      </p:sp>
      <p:sp>
        <p:nvSpPr>
          <p:cNvPr id="3" name="Text 1"/>
          <p:cNvSpPr txBox="1"/>
          <p:nvPr/>
        </p:nvSpPr>
        <p:spPr>
          <a:xfrm>
            <a:off x="548640" y="1828800"/>
            <a:ext cx="5440680" cy="4114800"/>
          </a:xfrm>
          <a:prstGeom prst="rect">
            <a:avLst/>
          </a:prstGeom>
          <a:noFill/>
          <a:ln/>
        </p:spPr>
        <p:txBody>
          <a:bodyPr wrap="square" lIns="0" tIns="0" rIns="0" bIns="0" rtlCol="0" anchor="t"/>
          <a:lstStyle/>
          <a:p>
            <a:pPr marL="228600" indent="-228600">
              <a:lnSpc>
                <a:spcPct val="108000"/>
              </a:lnSpc>
              <a:spcAft>
                <a:spcPts val="1400"/>
              </a:spcAft>
              <a:buSzPct val="100000"/>
              <a:buChar char="•"/>
            </a:pPr>
            <a:r>
              <a:rPr lang="en-US" sz="1500" dirty="0">
                <a:solidFill>
                  <a:srgbClr val="1B2B2C"/>
                </a:solidFill>
                <a:latin typeface="Calibri" pitchFamily="34" charset="0"/>
                <a:ea typeface="Calibri" pitchFamily="34" charset="-122"/>
                <a:cs typeface="Calibri" pitchFamily="34" charset="-120"/>
              </a:rPr>
              <a:t>Data streams in from multiple sources at once</a:t>
            </a:r>
            <a:endParaRPr lang="en-US" sz="1500" dirty="0"/>
          </a:p>
          <a:p>
            <a:pPr marL="228600" indent="-228600">
              <a:lnSpc>
                <a:spcPct val="108000"/>
              </a:lnSpc>
              <a:spcAft>
                <a:spcPts val="1400"/>
              </a:spcAft>
              <a:buSzPct val="100000"/>
              <a:buChar char="•"/>
            </a:pPr>
            <a:r>
              <a:rPr lang="en-US" sz="1500" dirty="0">
                <a:solidFill>
                  <a:srgbClr val="1B2B2C"/>
                </a:solidFill>
                <a:latin typeface="Calibri" pitchFamily="34" charset="0"/>
                <a:ea typeface="Calibri" pitchFamily="34" charset="-122"/>
                <a:cs typeface="Calibri" pitchFamily="34" charset="-120"/>
              </a:rPr>
              <a:t>Vitals (BP, heart rate, oxygen), electronic health records, lab results, imaging</a:t>
            </a:r>
            <a:endParaRPr lang="en-US" sz="1500" dirty="0"/>
          </a:p>
          <a:p>
            <a:pPr marL="228600" indent="-228600">
              <a:lnSpc>
                <a:spcPct val="108000"/>
              </a:lnSpc>
              <a:spcAft>
                <a:spcPts val="1400"/>
              </a:spcAft>
              <a:buSzPct val="100000"/>
              <a:buChar char="•"/>
            </a:pPr>
            <a:r>
              <a:rPr lang="en-US" sz="1500" dirty="0">
                <a:solidFill>
                  <a:srgbClr val="1B2B2C"/>
                </a:solidFill>
                <a:latin typeface="Calibri" pitchFamily="34" charset="0"/>
                <a:ea typeface="Calibri" pitchFamily="34" charset="-122"/>
                <a:cs typeface="Calibri" pitchFamily="34" charset="-120"/>
              </a:rPr>
              <a:t>The agent fuses this into an updated internal state — its current best "picture" of the patient</a:t>
            </a:r>
            <a:endParaRPr lang="en-US" sz="1500" dirty="0"/>
          </a:p>
          <a:p>
            <a:pPr marL="228600" indent="-228600">
              <a:lnSpc>
                <a:spcPct val="108000"/>
              </a:lnSpc>
              <a:spcAft>
                <a:spcPts val="1400"/>
              </a:spcAft>
              <a:buSzPct val="100000"/>
              <a:buChar char="•"/>
            </a:pPr>
            <a:r>
              <a:rPr lang="en-US" sz="1500" dirty="0">
                <a:solidFill>
                  <a:srgbClr val="1B2B2C"/>
                </a:solidFill>
                <a:latin typeface="Calibri" pitchFamily="34" charset="0"/>
                <a:ea typeface="Calibri" pitchFamily="34" charset="-122"/>
                <a:cs typeface="Calibri" pitchFamily="34" charset="-120"/>
              </a:rPr>
              <a:t>Reasoning tools (rules, scoring systems, ML models) turn raw numbers into meaningful signals</a:t>
            </a:r>
            <a:endParaRPr lang="en-US" sz="1500" dirty="0"/>
          </a:p>
        </p:txBody>
      </p:sp>
      <p:sp>
        <p:nvSpPr>
          <p:cNvPr id="4" name="Shape 2"/>
          <p:cNvSpPr/>
          <p:nvPr/>
        </p:nvSpPr>
        <p:spPr>
          <a:xfrm>
            <a:off x="6766560" y="1783080"/>
            <a:ext cx="4846320" cy="640080"/>
          </a:xfrm>
          <a:prstGeom prst="roundRect">
            <a:avLst>
              <a:gd name="adj" fmla="val 11429"/>
            </a:avLst>
          </a:prstGeom>
          <a:solidFill>
            <a:srgbClr val="F0F7F6"/>
          </a:solidFill>
          <a:ln/>
        </p:spPr>
      </p:sp>
      <p:sp>
        <p:nvSpPr>
          <p:cNvPr id="5" name="Shape 3"/>
          <p:cNvSpPr/>
          <p:nvPr/>
        </p:nvSpPr>
        <p:spPr>
          <a:xfrm>
            <a:off x="6903720" y="1874520"/>
            <a:ext cx="457200" cy="457200"/>
          </a:xfrm>
          <a:prstGeom prst="ellipse">
            <a:avLst/>
          </a:prstGeom>
          <a:solidFill>
            <a:srgbClr val="028090"/>
          </a:solidFill>
          <a:ln/>
        </p:spPr>
      </p:sp>
      <p:sp>
        <p:nvSpPr>
          <p:cNvPr id="6" name="Text 4"/>
          <p:cNvSpPr txBox="1"/>
          <p:nvPr/>
        </p:nvSpPr>
        <p:spPr>
          <a:xfrm>
            <a:off x="6903720" y="18745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7516368" y="1783080"/>
            <a:ext cx="3931920" cy="640080"/>
          </a:xfrm>
          <a:prstGeom prst="rect">
            <a:avLst/>
          </a:prstGeom>
          <a:noFill/>
          <a:ln/>
        </p:spPr>
        <p:txBody>
          <a:bodyPr wrap="square" lIns="0" tIns="0" rIns="0" bIns="0" rtlCol="0" anchor="ctr"/>
          <a:lstStyle/>
          <a:p>
            <a:pPr marL="0" indent="0">
              <a:buNone/>
            </a:pPr>
            <a:r>
              <a:rPr lang="en-US" sz="1400" b="1" dirty="0">
                <a:solidFill>
                  <a:srgbClr val="1B2B2C"/>
                </a:solidFill>
                <a:latin typeface="Cambria" pitchFamily="34" charset="0"/>
                <a:ea typeface="Cambria" pitchFamily="34" charset="-122"/>
                <a:cs typeface="Cambria" pitchFamily="34" charset="-120"/>
              </a:rPr>
              <a:t>Vitals</a:t>
            </a:r>
            <a:endParaRPr lang="en-US" sz="1400" dirty="0"/>
          </a:p>
        </p:txBody>
      </p:sp>
      <p:sp>
        <p:nvSpPr>
          <p:cNvPr id="8" name="Shape 6"/>
          <p:cNvSpPr/>
          <p:nvPr/>
        </p:nvSpPr>
        <p:spPr>
          <a:xfrm>
            <a:off x="6766560" y="2560320"/>
            <a:ext cx="4846320" cy="640080"/>
          </a:xfrm>
          <a:prstGeom prst="roundRect">
            <a:avLst>
              <a:gd name="adj" fmla="val 11429"/>
            </a:avLst>
          </a:prstGeom>
          <a:solidFill>
            <a:srgbClr val="F0F7F6"/>
          </a:solidFill>
          <a:ln/>
        </p:spPr>
      </p:sp>
      <p:sp>
        <p:nvSpPr>
          <p:cNvPr id="9" name="Shape 7"/>
          <p:cNvSpPr/>
          <p:nvPr/>
        </p:nvSpPr>
        <p:spPr>
          <a:xfrm>
            <a:off x="6903720" y="2651760"/>
            <a:ext cx="457200" cy="457200"/>
          </a:xfrm>
          <a:prstGeom prst="ellipse">
            <a:avLst/>
          </a:prstGeom>
          <a:solidFill>
            <a:srgbClr val="028090"/>
          </a:solidFill>
          <a:ln/>
        </p:spPr>
      </p:sp>
      <p:sp>
        <p:nvSpPr>
          <p:cNvPr id="10" name="Text 8"/>
          <p:cNvSpPr txBox="1"/>
          <p:nvPr/>
        </p:nvSpPr>
        <p:spPr>
          <a:xfrm>
            <a:off x="6903720" y="2651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7516368" y="2560320"/>
            <a:ext cx="3931920" cy="640080"/>
          </a:xfrm>
          <a:prstGeom prst="rect">
            <a:avLst/>
          </a:prstGeom>
          <a:noFill/>
          <a:ln/>
        </p:spPr>
        <p:txBody>
          <a:bodyPr wrap="square" lIns="0" tIns="0" rIns="0" bIns="0" rtlCol="0" anchor="ctr"/>
          <a:lstStyle/>
          <a:p>
            <a:pPr marL="0" indent="0">
              <a:buNone/>
            </a:pPr>
            <a:r>
              <a:rPr lang="en-US" sz="1400" b="1" dirty="0">
                <a:solidFill>
                  <a:srgbClr val="1B2B2C"/>
                </a:solidFill>
                <a:latin typeface="Cambria" pitchFamily="34" charset="0"/>
                <a:ea typeface="Cambria" pitchFamily="34" charset="-122"/>
                <a:cs typeface="Cambria" pitchFamily="34" charset="-120"/>
              </a:rPr>
              <a:t>EHR History</a:t>
            </a:r>
            <a:endParaRPr lang="en-US" sz="1400" dirty="0"/>
          </a:p>
        </p:txBody>
      </p:sp>
      <p:sp>
        <p:nvSpPr>
          <p:cNvPr id="12" name="Shape 10"/>
          <p:cNvSpPr/>
          <p:nvPr/>
        </p:nvSpPr>
        <p:spPr>
          <a:xfrm>
            <a:off x="6766560" y="3337560"/>
            <a:ext cx="4846320" cy="640080"/>
          </a:xfrm>
          <a:prstGeom prst="roundRect">
            <a:avLst>
              <a:gd name="adj" fmla="val 11429"/>
            </a:avLst>
          </a:prstGeom>
          <a:solidFill>
            <a:srgbClr val="F0F7F6"/>
          </a:solidFill>
          <a:ln/>
        </p:spPr>
      </p:sp>
      <p:sp>
        <p:nvSpPr>
          <p:cNvPr id="13" name="Shape 11"/>
          <p:cNvSpPr/>
          <p:nvPr/>
        </p:nvSpPr>
        <p:spPr>
          <a:xfrm>
            <a:off x="6903720" y="3429000"/>
            <a:ext cx="457200" cy="457200"/>
          </a:xfrm>
          <a:prstGeom prst="ellipse">
            <a:avLst/>
          </a:prstGeom>
          <a:solidFill>
            <a:srgbClr val="028090"/>
          </a:solidFill>
          <a:ln/>
        </p:spPr>
      </p:sp>
      <p:sp>
        <p:nvSpPr>
          <p:cNvPr id="14" name="Text 12"/>
          <p:cNvSpPr txBox="1"/>
          <p:nvPr/>
        </p:nvSpPr>
        <p:spPr>
          <a:xfrm>
            <a:off x="6903720" y="3429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txBox="1"/>
          <p:nvPr/>
        </p:nvSpPr>
        <p:spPr>
          <a:xfrm>
            <a:off x="7516368" y="3337560"/>
            <a:ext cx="3931920" cy="640080"/>
          </a:xfrm>
          <a:prstGeom prst="rect">
            <a:avLst/>
          </a:prstGeom>
          <a:noFill/>
          <a:ln/>
        </p:spPr>
        <p:txBody>
          <a:bodyPr wrap="square" lIns="0" tIns="0" rIns="0" bIns="0" rtlCol="0" anchor="ctr"/>
          <a:lstStyle/>
          <a:p>
            <a:pPr marL="0" indent="0">
              <a:buNone/>
            </a:pPr>
            <a:r>
              <a:rPr lang="en-US" sz="1400" b="1" dirty="0">
                <a:solidFill>
                  <a:srgbClr val="1B2B2C"/>
                </a:solidFill>
                <a:latin typeface="Cambria" pitchFamily="34" charset="0"/>
                <a:ea typeface="Cambria" pitchFamily="34" charset="-122"/>
                <a:cs typeface="Cambria" pitchFamily="34" charset="-120"/>
              </a:rPr>
              <a:t>Lab Results</a:t>
            </a:r>
            <a:endParaRPr lang="en-US" sz="1400" dirty="0"/>
          </a:p>
        </p:txBody>
      </p:sp>
      <p:sp>
        <p:nvSpPr>
          <p:cNvPr id="16" name="Shape 14"/>
          <p:cNvSpPr/>
          <p:nvPr/>
        </p:nvSpPr>
        <p:spPr>
          <a:xfrm>
            <a:off x="6766560" y="4114800"/>
            <a:ext cx="4846320" cy="640080"/>
          </a:xfrm>
          <a:prstGeom prst="roundRect">
            <a:avLst>
              <a:gd name="adj" fmla="val 11429"/>
            </a:avLst>
          </a:prstGeom>
          <a:solidFill>
            <a:srgbClr val="F0F7F6"/>
          </a:solidFill>
          <a:ln/>
        </p:spPr>
      </p:sp>
      <p:sp>
        <p:nvSpPr>
          <p:cNvPr id="17" name="Shape 15"/>
          <p:cNvSpPr/>
          <p:nvPr/>
        </p:nvSpPr>
        <p:spPr>
          <a:xfrm>
            <a:off x="6903720" y="4206240"/>
            <a:ext cx="457200" cy="457200"/>
          </a:xfrm>
          <a:prstGeom prst="ellipse">
            <a:avLst/>
          </a:prstGeom>
          <a:solidFill>
            <a:srgbClr val="028090"/>
          </a:solidFill>
          <a:ln/>
        </p:spPr>
      </p:sp>
      <p:sp>
        <p:nvSpPr>
          <p:cNvPr id="18" name="Text 16"/>
          <p:cNvSpPr txBox="1"/>
          <p:nvPr/>
        </p:nvSpPr>
        <p:spPr>
          <a:xfrm>
            <a:off x="6903720" y="4206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txBox="1"/>
          <p:nvPr/>
        </p:nvSpPr>
        <p:spPr>
          <a:xfrm>
            <a:off x="7516368" y="4114800"/>
            <a:ext cx="3931920" cy="640080"/>
          </a:xfrm>
          <a:prstGeom prst="rect">
            <a:avLst/>
          </a:prstGeom>
          <a:noFill/>
          <a:ln/>
        </p:spPr>
        <p:txBody>
          <a:bodyPr wrap="square" lIns="0" tIns="0" rIns="0" bIns="0" rtlCol="0" anchor="ctr"/>
          <a:lstStyle/>
          <a:p>
            <a:pPr marL="0" indent="0">
              <a:buNone/>
            </a:pPr>
            <a:r>
              <a:rPr lang="en-US" sz="1400" b="1" dirty="0">
                <a:solidFill>
                  <a:srgbClr val="1B2B2C"/>
                </a:solidFill>
                <a:latin typeface="Cambria" pitchFamily="34" charset="0"/>
                <a:ea typeface="Cambria" pitchFamily="34" charset="-122"/>
                <a:cs typeface="Cambria" pitchFamily="34" charset="-120"/>
              </a:rPr>
              <a:t>ECG / Imaging</a:t>
            </a:r>
            <a:endParaRPr lang="en-US" sz="1400" dirty="0"/>
          </a:p>
        </p:txBody>
      </p:sp>
      <p:sp>
        <p:nvSpPr>
          <p:cNvPr id="20" name="Shape 18"/>
          <p:cNvSpPr/>
          <p:nvPr/>
        </p:nvSpPr>
        <p:spPr>
          <a:xfrm>
            <a:off x="6080760" y="3429000"/>
            <a:ext cx="548640" cy="365760"/>
          </a:xfrm>
          <a:prstGeom prst="rightArrow">
            <a:avLst/>
          </a:prstGeom>
          <a:solidFill>
            <a:srgbClr val="02C39A"/>
          </a:solidFill>
          <a:ln/>
        </p:spPr>
      </p:sp>
      <p:sp>
        <p:nvSpPr>
          <p:cNvPr id="21" name="Shape 19"/>
          <p:cNvSpPr/>
          <p:nvPr/>
        </p:nvSpPr>
        <p:spPr>
          <a:xfrm>
            <a:off x="548640" y="4892040"/>
            <a:ext cx="11064240" cy="1051560"/>
          </a:xfrm>
          <a:prstGeom prst="roundRect">
            <a:avLst>
              <a:gd name="adj" fmla="val 6957"/>
            </a:avLst>
          </a:prstGeom>
          <a:solidFill>
            <a:srgbClr val="F0F7F6"/>
          </a:solidFill>
          <a:ln/>
          <a:effectLst>
            <a:outerShdw blurRad="76200" dist="25400" dir="5400000" algn="bl" rotWithShape="0">
              <a:srgbClr val="5B6E70">
                <a:alpha val="18000"/>
              </a:srgbClr>
            </a:outerShdw>
          </a:effectLst>
        </p:spPr>
      </p:sp>
      <p:sp>
        <p:nvSpPr>
          <p:cNvPr id="22" name="Text 20"/>
          <p:cNvSpPr txBox="1"/>
          <p:nvPr/>
        </p:nvSpPr>
        <p:spPr>
          <a:xfrm>
            <a:off x="822960" y="5029200"/>
            <a:ext cx="10515600" cy="822960"/>
          </a:xfrm>
          <a:prstGeom prst="rect">
            <a:avLst/>
          </a:prstGeom>
          <a:noFill/>
          <a:ln/>
        </p:spPr>
        <p:txBody>
          <a:bodyPr wrap="square" lIns="0" tIns="0" rIns="0" bIns="0" rtlCol="0" anchor="ctr"/>
          <a:lstStyle/>
          <a:p>
            <a:pPr marL="0" indent="0">
              <a:lnSpc>
                <a:spcPct val="120000"/>
              </a:lnSpc>
              <a:buNone/>
            </a:pPr>
            <a:r>
              <a:rPr lang="en-US" sz="1350" dirty="0">
                <a:solidFill>
                  <a:srgbClr val="1B2B2C"/>
                </a:solidFill>
                <a:latin typeface="Calibri" pitchFamily="34" charset="0"/>
                <a:ea typeface="Calibri" pitchFamily="34" charset="-122"/>
                <a:cs typeface="Calibri" pitchFamily="34" charset="-120"/>
              </a:rPr>
              <a:t>Continuing the example: ECG shows abnormal rhythm, troponin (heart enzyme) is elevated, BP is dropping. The agent updates its internal state — evidence is now strongly pointing toward Myocardial Infarction.</a:t>
            </a:r>
            <a:endParaRPr lang="en-US" sz="1350" dirty="0"/>
          </a:p>
        </p:txBody>
      </p:sp>
      <p:sp>
        <p:nvSpPr>
          <p:cNvPr id="23" name="Text 21"/>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8</a:t>
            </a:r>
            <a:endParaRPr lang="en-US" sz="1000" dirty="0"/>
          </a:p>
        </p:txBody>
      </p:sp>
      <p:sp>
        <p:nvSpPr>
          <p:cNvPr id="24" name="Text 22"/>
          <p:cNvSpPr txBox="1"/>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5B6E70"/>
                </a:solidFill>
                <a:latin typeface="Calibri" pitchFamily="34" charset="0"/>
                <a:ea typeface="Calibri" pitchFamily="34" charset="-122"/>
                <a:cs typeface="Calibri" pitchFamily="34" charset="-120"/>
              </a:rPr>
              <a:t>Goal-Based Agent in Healthcare Diagnosis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lIns="0" tIns="0" rIns="0" bIns="0" rtlCol="0" anchor="ctr"/>
          <a:lstStyle/>
          <a:p>
            <a:pPr marL="0" indent="0">
              <a:buNone/>
            </a:pPr>
            <a:r>
              <a:rPr lang="en-US" sz="3000" b="1" dirty="0">
                <a:solidFill>
                  <a:srgbClr val="1B2B2C"/>
                </a:solidFill>
                <a:latin typeface="Cambria" pitchFamily="34" charset="0"/>
                <a:ea typeface="Cambria" pitchFamily="34" charset="-122"/>
                <a:cs typeface="Cambria" pitchFamily="34" charset="-120"/>
              </a:rPr>
              <a:t>Decision-Making Logic</a:t>
            </a:r>
            <a:endParaRPr lang="en-US" sz="3000" dirty="0"/>
          </a:p>
        </p:txBody>
      </p:sp>
      <p:sp>
        <p:nvSpPr>
          <p:cNvPr id="3" name="Text 1"/>
          <p:cNvSpPr txBox="1"/>
          <p:nvPr/>
        </p:nvSpPr>
        <p:spPr>
          <a:xfrm>
            <a:off x="548640" y="1005840"/>
            <a:ext cx="11091672" cy="365760"/>
          </a:xfrm>
          <a:prstGeom prst="rect">
            <a:avLst/>
          </a:prstGeom>
          <a:noFill/>
          <a:ln/>
        </p:spPr>
        <p:txBody>
          <a:bodyPr wrap="square" lIns="0" tIns="0" rIns="0" bIns="0"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How the agent chooses between possibilities</a:t>
            </a:r>
            <a:endParaRPr lang="en-US" sz="1400" dirty="0"/>
          </a:p>
        </p:txBody>
      </p:sp>
      <p:sp>
        <p:nvSpPr>
          <p:cNvPr id="4" name="Shape 2"/>
          <p:cNvSpPr/>
          <p:nvPr/>
        </p:nvSpPr>
        <p:spPr>
          <a:xfrm>
            <a:off x="548640" y="1920240"/>
            <a:ext cx="2651760" cy="2743200"/>
          </a:xfrm>
          <a:prstGeom prst="roundRect">
            <a:avLst>
              <a:gd name="adj" fmla="val 2759"/>
            </a:avLst>
          </a:prstGeom>
          <a:solidFill>
            <a:srgbClr val="F0F7F6"/>
          </a:solidFill>
          <a:ln/>
          <a:effectLst>
            <a:outerShdw blurRad="76200" dist="25400" dir="5400000" algn="bl" rotWithShape="0">
              <a:srgbClr val="5B6E70">
                <a:alpha val="18000"/>
              </a:srgbClr>
            </a:outerShdw>
          </a:effectLst>
        </p:spPr>
      </p:sp>
      <p:sp>
        <p:nvSpPr>
          <p:cNvPr id="5" name="Shape 3"/>
          <p:cNvSpPr/>
          <p:nvPr/>
        </p:nvSpPr>
        <p:spPr>
          <a:xfrm>
            <a:off x="731520" y="2148840"/>
            <a:ext cx="457200" cy="457200"/>
          </a:xfrm>
          <a:prstGeom prst="roundRect">
            <a:avLst>
              <a:gd name="adj" fmla="val 16000"/>
            </a:avLst>
          </a:prstGeom>
          <a:solidFill>
            <a:srgbClr val="02C39A"/>
          </a:solidFill>
          <a:ln/>
        </p:spPr>
      </p:sp>
      <p:sp>
        <p:nvSpPr>
          <p:cNvPr id="6" name="Text 4"/>
          <p:cNvSpPr txBox="1"/>
          <p:nvPr/>
        </p:nvSpPr>
        <p:spPr>
          <a:xfrm>
            <a:off x="731520" y="2148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731520" y="2788920"/>
            <a:ext cx="2286000" cy="777240"/>
          </a:xfrm>
          <a:prstGeom prst="rect">
            <a:avLst/>
          </a:prstGeom>
          <a:noFill/>
          <a:ln/>
        </p:spPr>
        <p:txBody>
          <a:bodyPr wrap="square" lIns="0" tIns="0" rIns="0" bIns="0" rtlCol="0" anchor="ctr"/>
          <a:lstStyle/>
          <a:p>
            <a:pPr marL="0" indent="0">
              <a:lnSpc>
                <a:spcPct val="105000"/>
              </a:lnSpc>
              <a:buNone/>
            </a:pPr>
            <a:r>
              <a:rPr lang="en-US" sz="1400" b="1" dirty="0">
                <a:solidFill>
                  <a:srgbClr val="1B2B2C"/>
                </a:solidFill>
                <a:latin typeface="Cambria" pitchFamily="34" charset="0"/>
                <a:ea typeface="Cambria" pitchFamily="34" charset="-122"/>
                <a:cs typeface="Cambria" pitchFamily="34" charset="-120"/>
              </a:rPr>
              <a:t>Rule-Based Inference</a:t>
            </a:r>
            <a:endParaRPr lang="en-US" sz="1400" dirty="0"/>
          </a:p>
        </p:txBody>
      </p:sp>
      <p:sp>
        <p:nvSpPr>
          <p:cNvPr id="8" name="Text 6"/>
          <p:cNvSpPr txBox="1"/>
          <p:nvPr/>
        </p:nvSpPr>
        <p:spPr>
          <a:xfrm>
            <a:off x="731520" y="3520440"/>
            <a:ext cx="2286000" cy="1051560"/>
          </a:xfrm>
          <a:prstGeom prst="rect">
            <a:avLst/>
          </a:prstGeom>
          <a:noFill/>
          <a:ln/>
        </p:spPr>
        <p:txBody>
          <a:bodyPr wrap="square" lIns="0" tIns="0" rIns="0" bIns="0" rtlCol="0" anchor="ctr"/>
          <a:lstStyle/>
          <a:p>
            <a:pPr marL="0" indent="0">
              <a:lnSpc>
                <a:spcPct val="115000"/>
              </a:lnSpc>
              <a:buNone/>
            </a:pPr>
            <a:r>
              <a:rPr lang="en-US" sz="1150" dirty="0">
                <a:solidFill>
                  <a:srgbClr val="5B6E70"/>
                </a:solidFill>
                <a:latin typeface="Calibri" pitchFamily="34" charset="0"/>
                <a:ea typeface="Calibri" pitchFamily="34" charset="-122"/>
                <a:cs typeface="Calibri" pitchFamily="34" charset="-120"/>
              </a:rPr>
              <a:t>"IF troponin &gt; threshold AND ECG abnormal → high MI likelihood"</a:t>
            </a:r>
            <a:endParaRPr lang="en-US" sz="1150" dirty="0"/>
          </a:p>
        </p:txBody>
      </p:sp>
      <p:sp>
        <p:nvSpPr>
          <p:cNvPr id="9" name="Shape 7"/>
          <p:cNvSpPr/>
          <p:nvPr/>
        </p:nvSpPr>
        <p:spPr>
          <a:xfrm>
            <a:off x="3474720" y="1920240"/>
            <a:ext cx="2651760" cy="2743200"/>
          </a:xfrm>
          <a:prstGeom prst="roundRect">
            <a:avLst>
              <a:gd name="adj" fmla="val 2759"/>
            </a:avLst>
          </a:prstGeom>
          <a:solidFill>
            <a:srgbClr val="F0F7F6"/>
          </a:solidFill>
          <a:ln/>
          <a:effectLst>
            <a:outerShdw blurRad="76200" dist="25400" dir="5400000" algn="bl" rotWithShape="0">
              <a:srgbClr val="5B6E70">
                <a:alpha val="18000"/>
              </a:srgbClr>
            </a:outerShdw>
          </a:effectLst>
        </p:spPr>
      </p:sp>
      <p:sp>
        <p:nvSpPr>
          <p:cNvPr id="10" name="Shape 8"/>
          <p:cNvSpPr/>
          <p:nvPr/>
        </p:nvSpPr>
        <p:spPr>
          <a:xfrm>
            <a:off x="3657600" y="2148840"/>
            <a:ext cx="457200" cy="457200"/>
          </a:xfrm>
          <a:prstGeom prst="roundRect">
            <a:avLst>
              <a:gd name="adj" fmla="val 16000"/>
            </a:avLst>
          </a:prstGeom>
          <a:solidFill>
            <a:srgbClr val="02C39A"/>
          </a:solidFill>
          <a:ln/>
        </p:spPr>
      </p:sp>
      <p:sp>
        <p:nvSpPr>
          <p:cNvPr id="11" name="Text 9"/>
          <p:cNvSpPr txBox="1"/>
          <p:nvPr/>
        </p:nvSpPr>
        <p:spPr>
          <a:xfrm>
            <a:off x="3657600" y="2148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57600" y="2788920"/>
            <a:ext cx="2286000" cy="777240"/>
          </a:xfrm>
          <a:prstGeom prst="rect">
            <a:avLst/>
          </a:prstGeom>
          <a:noFill/>
          <a:ln/>
        </p:spPr>
        <p:txBody>
          <a:bodyPr wrap="square" lIns="0" tIns="0" rIns="0" bIns="0" rtlCol="0" anchor="ctr"/>
          <a:lstStyle/>
          <a:p>
            <a:pPr marL="0" indent="0">
              <a:lnSpc>
                <a:spcPct val="105000"/>
              </a:lnSpc>
              <a:buNone/>
            </a:pPr>
            <a:r>
              <a:rPr lang="en-US" sz="1400" b="1" dirty="0">
                <a:solidFill>
                  <a:srgbClr val="1B2B2C"/>
                </a:solidFill>
                <a:latin typeface="Cambria" pitchFamily="34" charset="0"/>
                <a:ea typeface="Cambria" pitchFamily="34" charset="-122"/>
                <a:cs typeface="Cambria" pitchFamily="34" charset="-120"/>
              </a:rPr>
              <a:t>Bayesian / Probabilistic Reasoning</a:t>
            </a:r>
            <a:endParaRPr lang="en-US" sz="1400" dirty="0"/>
          </a:p>
        </p:txBody>
      </p:sp>
      <p:sp>
        <p:nvSpPr>
          <p:cNvPr id="13" name="Text 11"/>
          <p:cNvSpPr txBox="1"/>
          <p:nvPr/>
        </p:nvSpPr>
        <p:spPr>
          <a:xfrm>
            <a:off x="3657600" y="3520440"/>
            <a:ext cx="2286000" cy="1051560"/>
          </a:xfrm>
          <a:prstGeom prst="rect">
            <a:avLst/>
          </a:prstGeom>
          <a:noFill/>
          <a:ln/>
        </p:spPr>
        <p:txBody>
          <a:bodyPr wrap="square" lIns="0" tIns="0" rIns="0" bIns="0" rtlCol="0" anchor="ctr"/>
          <a:lstStyle/>
          <a:p>
            <a:pPr marL="0" indent="0">
              <a:lnSpc>
                <a:spcPct val="115000"/>
              </a:lnSpc>
              <a:buNone/>
            </a:pPr>
            <a:r>
              <a:rPr lang="en-US" sz="1150" dirty="0">
                <a:solidFill>
                  <a:srgbClr val="5B6E70"/>
                </a:solidFill>
                <a:latin typeface="Calibri" pitchFamily="34" charset="0"/>
                <a:ea typeface="Calibri" pitchFamily="34" charset="-122"/>
                <a:cs typeface="Calibri" pitchFamily="34" charset="-120"/>
              </a:rPr>
              <a:t>Combines evidence to update the probability of each possible diagnosis</a:t>
            </a:r>
            <a:endParaRPr lang="en-US" sz="1150" dirty="0"/>
          </a:p>
        </p:txBody>
      </p:sp>
      <p:sp>
        <p:nvSpPr>
          <p:cNvPr id="14" name="Shape 12"/>
          <p:cNvSpPr/>
          <p:nvPr/>
        </p:nvSpPr>
        <p:spPr>
          <a:xfrm>
            <a:off x="6400800" y="1920240"/>
            <a:ext cx="2651760" cy="2743200"/>
          </a:xfrm>
          <a:prstGeom prst="roundRect">
            <a:avLst>
              <a:gd name="adj" fmla="val 2759"/>
            </a:avLst>
          </a:prstGeom>
          <a:solidFill>
            <a:srgbClr val="F0F7F6"/>
          </a:solidFill>
          <a:ln/>
          <a:effectLst>
            <a:outerShdw blurRad="76200" dist="25400" dir="5400000" algn="bl" rotWithShape="0">
              <a:srgbClr val="5B6E70">
                <a:alpha val="18000"/>
              </a:srgbClr>
            </a:outerShdw>
          </a:effectLst>
        </p:spPr>
      </p:sp>
      <p:sp>
        <p:nvSpPr>
          <p:cNvPr id="15" name="Shape 13"/>
          <p:cNvSpPr/>
          <p:nvPr/>
        </p:nvSpPr>
        <p:spPr>
          <a:xfrm>
            <a:off x="6583680" y="2148840"/>
            <a:ext cx="457200" cy="457200"/>
          </a:xfrm>
          <a:prstGeom prst="roundRect">
            <a:avLst>
              <a:gd name="adj" fmla="val 16000"/>
            </a:avLst>
          </a:prstGeom>
          <a:solidFill>
            <a:srgbClr val="02C39A"/>
          </a:solidFill>
          <a:ln/>
        </p:spPr>
      </p:sp>
      <p:sp>
        <p:nvSpPr>
          <p:cNvPr id="16" name="Text 14"/>
          <p:cNvSpPr txBox="1"/>
          <p:nvPr/>
        </p:nvSpPr>
        <p:spPr>
          <a:xfrm>
            <a:off x="6583680" y="2148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583680" y="2788920"/>
            <a:ext cx="2286000" cy="777240"/>
          </a:xfrm>
          <a:prstGeom prst="rect">
            <a:avLst/>
          </a:prstGeom>
          <a:noFill/>
          <a:ln/>
        </p:spPr>
        <p:txBody>
          <a:bodyPr wrap="square" lIns="0" tIns="0" rIns="0" bIns="0" rtlCol="0" anchor="ctr"/>
          <a:lstStyle/>
          <a:p>
            <a:pPr marL="0" indent="0">
              <a:lnSpc>
                <a:spcPct val="105000"/>
              </a:lnSpc>
              <a:buNone/>
            </a:pPr>
            <a:r>
              <a:rPr lang="en-US" sz="1400" b="1" dirty="0">
                <a:solidFill>
                  <a:srgbClr val="1B2B2C"/>
                </a:solidFill>
                <a:latin typeface="Cambria" pitchFamily="34" charset="0"/>
                <a:ea typeface="Cambria" pitchFamily="34" charset="-122"/>
                <a:cs typeface="Cambria" pitchFamily="34" charset="-120"/>
              </a:rPr>
              <a:t>Decision Trees</a:t>
            </a:r>
            <a:endParaRPr lang="en-US" sz="1400" dirty="0"/>
          </a:p>
        </p:txBody>
      </p:sp>
      <p:sp>
        <p:nvSpPr>
          <p:cNvPr id="18" name="Text 16"/>
          <p:cNvSpPr txBox="1"/>
          <p:nvPr/>
        </p:nvSpPr>
        <p:spPr>
          <a:xfrm>
            <a:off x="6583680" y="3520440"/>
            <a:ext cx="2286000" cy="1051560"/>
          </a:xfrm>
          <a:prstGeom prst="rect">
            <a:avLst/>
          </a:prstGeom>
          <a:noFill/>
          <a:ln/>
        </p:spPr>
        <p:txBody>
          <a:bodyPr wrap="square" lIns="0" tIns="0" rIns="0" bIns="0" rtlCol="0" anchor="ctr"/>
          <a:lstStyle/>
          <a:p>
            <a:pPr marL="0" indent="0">
              <a:lnSpc>
                <a:spcPct val="115000"/>
              </a:lnSpc>
              <a:buNone/>
            </a:pPr>
            <a:r>
              <a:rPr lang="en-US" sz="1150" dirty="0">
                <a:solidFill>
                  <a:srgbClr val="5B6E70"/>
                </a:solidFill>
                <a:latin typeface="Calibri" pitchFamily="34" charset="0"/>
                <a:ea typeface="Calibri" pitchFamily="34" charset="-122"/>
                <a:cs typeface="Calibri" pitchFamily="34" charset="-120"/>
              </a:rPr>
              <a:t>Branches through yes/no clinical questions to narrow down the cause</a:t>
            </a:r>
            <a:endParaRPr lang="en-US" sz="1150" dirty="0"/>
          </a:p>
        </p:txBody>
      </p:sp>
      <p:sp>
        <p:nvSpPr>
          <p:cNvPr id="19" name="Shape 17"/>
          <p:cNvSpPr/>
          <p:nvPr/>
        </p:nvSpPr>
        <p:spPr>
          <a:xfrm>
            <a:off x="9326880" y="1920240"/>
            <a:ext cx="2651760" cy="2743200"/>
          </a:xfrm>
          <a:prstGeom prst="roundRect">
            <a:avLst>
              <a:gd name="adj" fmla="val 2759"/>
            </a:avLst>
          </a:prstGeom>
          <a:solidFill>
            <a:srgbClr val="F0F7F6"/>
          </a:solidFill>
          <a:ln/>
          <a:effectLst>
            <a:outerShdw blurRad="76200" dist="25400" dir="5400000" algn="bl" rotWithShape="0">
              <a:srgbClr val="5B6E70">
                <a:alpha val="18000"/>
              </a:srgbClr>
            </a:outerShdw>
          </a:effectLst>
        </p:spPr>
      </p:sp>
      <p:sp>
        <p:nvSpPr>
          <p:cNvPr id="20" name="Shape 18"/>
          <p:cNvSpPr/>
          <p:nvPr/>
        </p:nvSpPr>
        <p:spPr>
          <a:xfrm>
            <a:off x="9509760" y="2148840"/>
            <a:ext cx="457200" cy="457200"/>
          </a:xfrm>
          <a:prstGeom prst="roundRect">
            <a:avLst>
              <a:gd name="adj" fmla="val 16000"/>
            </a:avLst>
          </a:prstGeom>
          <a:solidFill>
            <a:srgbClr val="02C39A"/>
          </a:solidFill>
          <a:ln/>
        </p:spPr>
      </p:sp>
      <p:sp>
        <p:nvSpPr>
          <p:cNvPr id="21" name="Text 19"/>
          <p:cNvSpPr txBox="1"/>
          <p:nvPr/>
        </p:nvSpPr>
        <p:spPr>
          <a:xfrm>
            <a:off x="9509760" y="2148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509760" y="2788920"/>
            <a:ext cx="2286000" cy="777240"/>
          </a:xfrm>
          <a:prstGeom prst="rect">
            <a:avLst/>
          </a:prstGeom>
          <a:noFill/>
          <a:ln/>
        </p:spPr>
        <p:txBody>
          <a:bodyPr wrap="square" lIns="0" tIns="0" rIns="0" bIns="0" rtlCol="0" anchor="ctr"/>
          <a:lstStyle/>
          <a:p>
            <a:pPr marL="0" indent="0">
              <a:lnSpc>
                <a:spcPct val="105000"/>
              </a:lnSpc>
              <a:buNone/>
            </a:pPr>
            <a:r>
              <a:rPr lang="en-US" sz="1400" b="1" dirty="0">
                <a:solidFill>
                  <a:srgbClr val="1B2B2C"/>
                </a:solidFill>
                <a:latin typeface="Cambria" pitchFamily="34" charset="0"/>
                <a:ea typeface="Cambria" pitchFamily="34" charset="-122"/>
                <a:cs typeface="Cambria" pitchFamily="34" charset="-120"/>
              </a:rPr>
              <a:t>ML Classifiers</a:t>
            </a:r>
            <a:endParaRPr lang="en-US" sz="1400" dirty="0"/>
          </a:p>
        </p:txBody>
      </p:sp>
      <p:sp>
        <p:nvSpPr>
          <p:cNvPr id="23" name="Text 21"/>
          <p:cNvSpPr txBox="1"/>
          <p:nvPr/>
        </p:nvSpPr>
        <p:spPr>
          <a:xfrm>
            <a:off x="9509760" y="3520440"/>
            <a:ext cx="2286000" cy="1051560"/>
          </a:xfrm>
          <a:prstGeom prst="rect">
            <a:avLst/>
          </a:prstGeom>
          <a:noFill/>
          <a:ln/>
        </p:spPr>
        <p:txBody>
          <a:bodyPr wrap="square" lIns="0" tIns="0" rIns="0" bIns="0" rtlCol="0" anchor="ctr"/>
          <a:lstStyle/>
          <a:p>
            <a:pPr marL="0" indent="0">
              <a:lnSpc>
                <a:spcPct val="115000"/>
              </a:lnSpc>
              <a:buNone/>
            </a:pPr>
            <a:r>
              <a:rPr lang="en-US" sz="1150" dirty="0">
                <a:solidFill>
                  <a:srgbClr val="5B6E70"/>
                </a:solidFill>
                <a:latin typeface="Calibri" pitchFamily="34" charset="0"/>
                <a:ea typeface="Calibri" pitchFamily="34" charset="-122"/>
                <a:cs typeface="Calibri" pitchFamily="34" charset="-120"/>
              </a:rPr>
              <a:t>Learned models score patterns across thousands of past patient cases</a:t>
            </a:r>
            <a:endParaRPr lang="en-US" sz="1150" dirty="0"/>
          </a:p>
        </p:txBody>
      </p:sp>
      <p:sp>
        <p:nvSpPr>
          <p:cNvPr id="24" name="Shape 22"/>
          <p:cNvSpPr/>
          <p:nvPr/>
        </p:nvSpPr>
        <p:spPr>
          <a:xfrm>
            <a:off x="548640" y="4892040"/>
            <a:ext cx="11064240" cy="1051560"/>
          </a:xfrm>
          <a:prstGeom prst="roundRect">
            <a:avLst>
              <a:gd name="adj" fmla="val 6957"/>
            </a:avLst>
          </a:prstGeom>
          <a:solidFill>
            <a:srgbClr val="028090"/>
          </a:solidFill>
          <a:ln/>
          <a:effectLst>
            <a:outerShdw blurRad="76200" dist="25400" dir="5400000" algn="bl" rotWithShape="0">
              <a:srgbClr val="5B6E70">
                <a:alpha val="18000"/>
              </a:srgbClr>
            </a:outerShdw>
          </a:effectLst>
        </p:spPr>
      </p:sp>
      <p:sp>
        <p:nvSpPr>
          <p:cNvPr id="25" name="Text 23"/>
          <p:cNvSpPr txBox="1"/>
          <p:nvPr/>
        </p:nvSpPr>
        <p:spPr>
          <a:xfrm>
            <a:off x="822960" y="5029200"/>
            <a:ext cx="10515600" cy="822960"/>
          </a:xfrm>
          <a:prstGeom prst="rect">
            <a:avLst/>
          </a:prstGeom>
          <a:noFill/>
          <a:ln/>
        </p:spPr>
        <p:txBody>
          <a:bodyPr wrap="square" lIns="0" tIns="0" rIns="0" bIns="0" rtlCol="0" anchor="ctr"/>
          <a:lstStyle/>
          <a:p>
            <a:pPr marL="0" indent="0">
              <a:lnSpc>
                <a:spcPct val="120000"/>
              </a:lnSpc>
              <a:buNone/>
            </a:pPr>
            <a:r>
              <a:rPr lang="en-US" sz="1350" dirty="0">
                <a:solidFill>
                  <a:srgbClr val="FFFFFF"/>
                </a:solidFill>
                <a:latin typeface="Calibri" pitchFamily="34" charset="0"/>
                <a:ea typeface="Calibri" pitchFamily="34" charset="-122"/>
                <a:cs typeface="Calibri" pitchFamily="34" charset="-120"/>
              </a:rPr>
              <a:t>The agent doesn't rely on just one method — it blends these techniques and picks the diagnostic path that satisfies the goal with the highest confidence and the lowest risk.</a:t>
            </a:r>
            <a:endParaRPr lang="en-US" sz="1350" dirty="0"/>
          </a:p>
        </p:txBody>
      </p:sp>
      <p:sp>
        <p:nvSpPr>
          <p:cNvPr id="26" name="Text 24"/>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9</a:t>
            </a:r>
            <a:endParaRPr lang="en-US" sz="1000" dirty="0"/>
          </a:p>
        </p:txBody>
      </p:sp>
      <p:sp>
        <p:nvSpPr>
          <p:cNvPr id="27" name="Text 25"/>
          <p:cNvSpPr txBox="1"/>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5B6E70"/>
                </a:solidFill>
                <a:latin typeface="Calibri" pitchFamily="34" charset="0"/>
                <a:ea typeface="Calibri" pitchFamily="34" charset="-122"/>
                <a:cs typeface="Calibri" pitchFamily="34" charset="-120"/>
              </a:rPr>
              <a:t>Goal-Based Agent in Healthcare Diagnosis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lIns="0" tIns="0" rIns="0" bIns="0" rtlCol="0" anchor="ctr"/>
          <a:lstStyle/>
          <a:p>
            <a:pPr marL="0" indent="0">
              <a:buNone/>
            </a:pPr>
            <a:r>
              <a:rPr lang="en-US" sz="3000" b="1" dirty="0">
                <a:solidFill>
                  <a:srgbClr val="1B2B2C"/>
                </a:solidFill>
                <a:latin typeface="Cambria" pitchFamily="34" charset="0"/>
                <a:ea typeface="Cambria" pitchFamily="34" charset="-122"/>
                <a:cs typeface="Cambria" pitchFamily="34" charset="-120"/>
              </a:rPr>
              <a:t>Step 3 — Selecting the Optimal Treatment Pathway</a:t>
            </a:r>
            <a:endParaRPr lang="en-US" sz="3000" dirty="0"/>
          </a:p>
        </p:txBody>
      </p:sp>
      <p:sp>
        <p:nvSpPr>
          <p:cNvPr id="3" name="Text 1"/>
          <p:cNvSpPr txBox="1"/>
          <p:nvPr/>
        </p:nvSpPr>
        <p:spPr>
          <a:xfrm>
            <a:off x="548640" y="1828800"/>
            <a:ext cx="6035040" cy="4023360"/>
          </a:xfrm>
          <a:prstGeom prst="rect">
            <a:avLst/>
          </a:prstGeom>
          <a:noFill/>
          <a:ln/>
        </p:spPr>
        <p:txBody>
          <a:bodyPr wrap="square" lIns="0" tIns="0" rIns="0" bIns="0" rtlCol="0" anchor="t"/>
          <a:lstStyle/>
          <a:p>
            <a:pPr marL="228600" indent="-228600">
              <a:lnSpc>
                <a:spcPct val="108000"/>
              </a:lnSpc>
              <a:spcAft>
                <a:spcPts val="1400"/>
              </a:spcAft>
              <a:buSzPct val="100000"/>
              <a:buChar char="•"/>
            </a:pPr>
            <a:r>
              <a:rPr lang="en-US" sz="1500" dirty="0">
                <a:solidFill>
                  <a:srgbClr val="1B2B2C"/>
                </a:solidFill>
                <a:latin typeface="Calibri" pitchFamily="34" charset="0"/>
                <a:ea typeface="Calibri" pitchFamily="34" charset="-122"/>
                <a:cs typeface="Calibri" pitchFamily="34" charset="-120"/>
              </a:rPr>
              <a:t>Once the diagnosis goal is met, the agent sets a NEW goal: best possible treatment outcome</a:t>
            </a:r>
            <a:endParaRPr lang="en-US" sz="1500" dirty="0"/>
          </a:p>
          <a:p>
            <a:pPr marL="228600" indent="-228600">
              <a:lnSpc>
                <a:spcPct val="108000"/>
              </a:lnSpc>
              <a:spcAft>
                <a:spcPts val="1400"/>
              </a:spcAft>
              <a:buSzPct val="100000"/>
              <a:buChar char="•"/>
            </a:pPr>
            <a:r>
              <a:rPr lang="en-US" sz="1500" dirty="0">
                <a:solidFill>
                  <a:srgbClr val="1B2B2C"/>
                </a:solidFill>
                <a:latin typeface="Calibri" pitchFamily="34" charset="0"/>
                <a:ea typeface="Calibri" pitchFamily="34" charset="-122"/>
                <a:cs typeface="Calibri" pitchFamily="34" charset="-120"/>
              </a:rPr>
              <a:t>It compares alternative treatment paths against that goal</a:t>
            </a:r>
            <a:endParaRPr lang="en-US" sz="1500" dirty="0"/>
          </a:p>
          <a:p>
            <a:pPr marL="228600" indent="-228600">
              <a:lnSpc>
                <a:spcPct val="108000"/>
              </a:lnSpc>
              <a:spcAft>
                <a:spcPts val="1400"/>
              </a:spcAft>
              <a:buSzPct val="100000"/>
              <a:buChar char="•"/>
            </a:pPr>
            <a:r>
              <a:rPr lang="en-US" sz="1500" dirty="0">
                <a:solidFill>
                  <a:srgbClr val="1B2B2C"/>
                </a:solidFill>
                <a:latin typeface="Calibri" pitchFamily="34" charset="0"/>
                <a:ea typeface="Calibri" pitchFamily="34" charset="-122"/>
                <a:cs typeface="Calibri" pitchFamily="34" charset="-120"/>
              </a:rPr>
              <a:t>Each option is scored on: effectiveness, safety, urgency, and resource availability</a:t>
            </a:r>
            <a:endParaRPr lang="en-US" sz="1500" dirty="0"/>
          </a:p>
          <a:p>
            <a:pPr marL="228600" indent="-228600">
              <a:lnSpc>
                <a:spcPct val="108000"/>
              </a:lnSpc>
              <a:spcAft>
                <a:spcPts val="1400"/>
              </a:spcAft>
              <a:buSzPct val="100000"/>
              <a:buChar char="•"/>
            </a:pPr>
            <a:r>
              <a:rPr lang="en-US" sz="1500" dirty="0">
                <a:solidFill>
                  <a:srgbClr val="1B2B2C"/>
                </a:solidFill>
                <a:latin typeface="Calibri" pitchFamily="34" charset="0"/>
                <a:ea typeface="Calibri" pitchFamily="34" charset="-122"/>
                <a:cs typeface="Calibri" pitchFamily="34" charset="-120"/>
              </a:rPr>
              <a:t>The agent recommends the pathway that best satisfies the goal — not just the first option found</a:t>
            </a:r>
            <a:endParaRPr lang="en-US" sz="1500" dirty="0"/>
          </a:p>
        </p:txBody>
      </p:sp>
      <p:sp>
        <p:nvSpPr>
          <p:cNvPr id="4" name="Shape 2"/>
          <p:cNvSpPr/>
          <p:nvPr/>
        </p:nvSpPr>
        <p:spPr>
          <a:xfrm>
            <a:off x="6949440" y="1828800"/>
            <a:ext cx="4663440" cy="4023360"/>
          </a:xfrm>
          <a:prstGeom prst="roundRect">
            <a:avLst>
              <a:gd name="adj" fmla="val 1818"/>
            </a:avLst>
          </a:prstGeom>
          <a:solidFill>
            <a:srgbClr val="F0F7F6"/>
          </a:solidFill>
          <a:ln/>
          <a:effectLst>
            <a:outerShdw blurRad="76200" dist="25400" dir="5400000" algn="bl" rotWithShape="0">
              <a:srgbClr val="5B6E70">
                <a:alpha val="18000"/>
              </a:srgbClr>
            </a:outerShdw>
          </a:effectLst>
        </p:spPr>
      </p:sp>
      <p:sp>
        <p:nvSpPr>
          <p:cNvPr id="5" name="Text 3"/>
          <p:cNvSpPr txBox="1"/>
          <p:nvPr/>
        </p:nvSpPr>
        <p:spPr>
          <a:xfrm>
            <a:off x="7223760" y="2011680"/>
            <a:ext cx="4114800" cy="365760"/>
          </a:xfrm>
          <a:prstGeom prst="rect">
            <a:avLst/>
          </a:prstGeom>
          <a:noFill/>
          <a:ln/>
        </p:spPr>
        <p:txBody>
          <a:bodyPr wrap="square" lIns="0" tIns="0" rIns="0" bIns="0" rtlCol="0" anchor="ctr"/>
          <a:lstStyle/>
          <a:p>
            <a:pPr marL="0" indent="0">
              <a:buNone/>
            </a:pPr>
            <a:r>
              <a:rPr lang="en-US" sz="1450" b="1" dirty="0">
                <a:solidFill>
                  <a:srgbClr val="1B2B2C"/>
                </a:solidFill>
                <a:latin typeface="Cambria" pitchFamily="34" charset="0"/>
                <a:ea typeface="Cambria" pitchFamily="34" charset="-122"/>
                <a:cs typeface="Cambria" pitchFamily="34" charset="-120"/>
              </a:rPr>
              <a:t>Comparing Treatment Options</a:t>
            </a:r>
            <a:endParaRPr lang="en-US" sz="1450" dirty="0"/>
          </a:p>
        </p:txBody>
      </p:sp>
      <p:sp>
        <p:nvSpPr>
          <p:cNvPr id="6" name="Shape 4"/>
          <p:cNvSpPr/>
          <p:nvPr/>
        </p:nvSpPr>
        <p:spPr>
          <a:xfrm>
            <a:off x="7223760" y="2514600"/>
            <a:ext cx="4114800" cy="502920"/>
          </a:xfrm>
          <a:prstGeom prst="rect">
            <a:avLst/>
          </a:prstGeom>
          <a:solidFill>
            <a:srgbClr val="028090"/>
          </a:solidFill>
          <a:ln w="6350">
            <a:solidFill>
              <a:srgbClr val="D8E6E4"/>
            </a:solidFill>
            <a:prstDash val="solid"/>
          </a:ln>
        </p:spPr>
      </p:sp>
      <p:sp>
        <p:nvSpPr>
          <p:cNvPr id="7" name="Text 5"/>
          <p:cNvSpPr txBox="1"/>
          <p:nvPr/>
        </p:nvSpPr>
        <p:spPr>
          <a:xfrm>
            <a:off x="7315200" y="2514600"/>
            <a:ext cx="2194560" cy="5029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Option</a:t>
            </a:r>
            <a:endParaRPr lang="en-US" sz="1150" dirty="0"/>
          </a:p>
        </p:txBody>
      </p:sp>
      <p:sp>
        <p:nvSpPr>
          <p:cNvPr id="8" name="Text 6"/>
          <p:cNvSpPr txBox="1"/>
          <p:nvPr/>
        </p:nvSpPr>
        <p:spPr>
          <a:xfrm>
            <a:off x="9509760" y="2514600"/>
            <a:ext cx="822960" cy="5029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Speed</a:t>
            </a:r>
            <a:endParaRPr lang="en-US" sz="1100" dirty="0"/>
          </a:p>
        </p:txBody>
      </p:sp>
      <p:sp>
        <p:nvSpPr>
          <p:cNvPr id="9" name="Text 7"/>
          <p:cNvSpPr txBox="1"/>
          <p:nvPr/>
        </p:nvSpPr>
        <p:spPr>
          <a:xfrm>
            <a:off x="10332720" y="2514600"/>
            <a:ext cx="1097280" cy="5029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Risk</a:t>
            </a:r>
            <a:endParaRPr lang="en-US" sz="1050" dirty="0"/>
          </a:p>
        </p:txBody>
      </p:sp>
      <p:sp>
        <p:nvSpPr>
          <p:cNvPr id="10" name="Shape 8"/>
          <p:cNvSpPr/>
          <p:nvPr/>
        </p:nvSpPr>
        <p:spPr>
          <a:xfrm>
            <a:off x="7223760" y="3017520"/>
            <a:ext cx="4114800" cy="502920"/>
          </a:xfrm>
          <a:prstGeom prst="rect">
            <a:avLst/>
          </a:prstGeom>
          <a:solidFill>
            <a:srgbClr val="E4F1EF"/>
          </a:solidFill>
          <a:ln w="6350">
            <a:solidFill>
              <a:srgbClr val="D8E6E4"/>
            </a:solidFill>
            <a:prstDash val="solid"/>
          </a:ln>
        </p:spPr>
      </p:sp>
      <p:sp>
        <p:nvSpPr>
          <p:cNvPr id="11" name="Text 9"/>
          <p:cNvSpPr txBox="1"/>
          <p:nvPr/>
        </p:nvSpPr>
        <p:spPr>
          <a:xfrm>
            <a:off x="7315200" y="3017520"/>
            <a:ext cx="2194560" cy="502920"/>
          </a:xfrm>
          <a:prstGeom prst="rect">
            <a:avLst/>
          </a:prstGeom>
          <a:noFill/>
          <a:ln/>
        </p:spPr>
        <p:txBody>
          <a:bodyPr wrap="square" lIns="0" tIns="0" rIns="0" bIns="0" rtlCol="0" anchor="ctr"/>
          <a:lstStyle/>
          <a:p>
            <a:pPr marL="0" indent="0">
              <a:buNone/>
            </a:pPr>
            <a:r>
              <a:rPr lang="en-US" sz="1150" dirty="0">
                <a:solidFill>
                  <a:srgbClr val="028090"/>
                </a:solidFill>
                <a:latin typeface="Calibri" pitchFamily="34" charset="0"/>
                <a:ea typeface="Calibri" pitchFamily="34" charset="-122"/>
                <a:cs typeface="Calibri" pitchFamily="34" charset="-120"/>
              </a:rPr>
              <a:t>Immediate Angioplasty</a:t>
            </a:r>
            <a:endParaRPr lang="en-US" sz="1150" dirty="0"/>
          </a:p>
        </p:txBody>
      </p:sp>
      <p:sp>
        <p:nvSpPr>
          <p:cNvPr id="12" name="Text 10"/>
          <p:cNvSpPr txBox="1"/>
          <p:nvPr/>
        </p:nvSpPr>
        <p:spPr>
          <a:xfrm>
            <a:off x="9509760" y="3017520"/>
            <a:ext cx="822960" cy="502920"/>
          </a:xfrm>
          <a:prstGeom prst="rect">
            <a:avLst/>
          </a:prstGeom>
          <a:noFill/>
          <a:ln/>
        </p:spPr>
        <p:txBody>
          <a:bodyPr wrap="square" lIns="0" tIns="0" rIns="0" bIns="0" rtlCol="0" anchor="ctr"/>
          <a:lstStyle/>
          <a:p>
            <a:pPr marL="0" indent="0">
              <a:buNone/>
            </a:pPr>
            <a:r>
              <a:rPr lang="en-US" sz="1100" dirty="0">
                <a:solidFill>
                  <a:srgbClr val="028090"/>
                </a:solidFill>
                <a:latin typeface="Calibri" pitchFamily="34" charset="0"/>
                <a:ea typeface="Calibri" pitchFamily="34" charset="-122"/>
                <a:cs typeface="Calibri" pitchFamily="34" charset="-120"/>
              </a:rPr>
              <a:t>Fast</a:t>
            </a:r>
            <a:endParaRPr lang="en-US" sz="1100" dirty="0"/>
          </a:p>
        </p:txBody>
      </p:sp>
      <p:sp>
        <p:nvSpPr>
          <p:cNvPr id="13" name="Text 11"/>
          <p:cNvSpPr txBox="1"/>
          <p:nvPr/>
        </p:nvSpPr>
        <p:spPr>
          <a:xfrm>
            <a:off x="10332720" y="3017520"/>
            <a:ext cx="1097280" cy="502920"/>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Low (best fit)</a:t>
            </a:r>
            <a:endParaRPr lang="en-US" sz="1050" dirty="0"/>
          </a:p>
        </p:txBody>
      </p:sp>
      <p:sp>
        <p:nvSpPr>
          <p:cNvPr id="14" name="Shape 12"/>
          <p:cNvSpPr/>
          <p:nvPr/>
        </p:nvSpPr>
        <p:spPr>
          <a:xfrm>
            <a:off x="7223760" y="3520440"/>
            <a:ext cx="4114800" cy="502920"/>
          </a:xfrm>
          <a:prstGeom prst="rect">
            <a:avLst/>
          </a:prstGeom>
          <a:solidFill>
            <a:srgbClr val="FFFFFF"/>
          </a:solidFill>
          <a:ln w="6350">
            <a:solidFill>
              <a:srgbClr val="D8E6E4"/>
            </a:solidFill>
            <a:prstDash val="solid"/>
          </a:ln>
        </p:spPr>
      </p:sp>
      <p:sp>
        <p:nvSpPr>
          <p:cNvPr id="15" name="Text 13"/>
          <p:cNvSpPr txBox="1"/>
          <p:nvPr/>
        </p:nvSpPr>
        <p:spPr>
          <a:xfrm>
            <a:off x="7315200" y="3520440"/>
            <a:ext cx="2194560" cy="502920"/>
          </a:xfrm>
          <a:prstGeom prst="rect">
            <a:avLst/>
          </a:prstGeom>
          <a:noFill/>
          <a:ln/>
        </p:spPr>
        <p:txBody>
          <a:bodyPr wrap="square" lIns="0" tIns="0" rIns="0" bIns="0" rtlCol="0" anchor="ctr"/>
          <a:lstStyle/>
          <a:p>
            <a:pPr marL="0" indent="0">
              <a:buNone/>
            </a:pPr>
            <a:r>
              <a:rPr lang="en-US" sz="1150" dirty="0">
                <a:solidFill>
                  <a:srgbClr val="1B2B2C"/>
                </a:solidFill>
                <a:latin typeface="Calibri" pitchFamily="34" charset="0"/>
                <a:ea typeface="Calibri" pitchFamily="34" charset="-122"/>
                <a:cs typeface="Calibri" pitchFamily="34" charset="-120"/>
              </a:rPr>
              <a:t>Clot-Dissolving Medication</a:t>
            </a:r>
            <a:endParaRPr lang="en-US" sz="1150" dirty="0"/>
          </a:p>
        </p:txBody>
      </p:sp>
      <p:sp>
        <p:nvSpPr>
          <p:cNvPr id="16" name="Text 14"/>
          <p:cNvSpPr txBox="1"/>
          <p:nvPr/>
        </p:nvSpPr>
        <p:spPr>
          <a:xfrm>
            <a:off x="9509760" y="3520440"/>
            <a:ext cx="822960" cy="502920"/>
          </a:xfrm>
          <a:prstGeom prst="rect">
            <a:avLst/>
          </a:prstGeom>
          <a:noFill/>
          <a:ln/>
        </p:spPr>
        <p:txBody>
          <a:bodyPr wrap="square" lIns="0" tIns="0" rIns="0" bIns="0" rtlCol="0" anchor="ctr"/>
          <a:lstStyle/>
          <a:p>
            <a:pPr marL="0" indent="0">
              <a:buNone/>
            </a:pPr>
            <a:r>
              <a:rPr lang="en-US" sz="1100" dirty="0">
                <a:solidFill>
                  <a:srgbClr val="1B2B2C"/>
                </a:solidFill>
                <a:latin typeface="Calibri" pitchFamily="34" charset="0"/>
                <a:ea typeface="Calibri" pitchFamily="34" charset="-122"/>
                <a:cs typeface="Calibri" pitchFamily="34" charset="-120"/>
              </a:rPr>
              <a:t>Moderate</a:t>
            </a:r>
            <a:endParaRPr lang="en-US" sz="1100" dirty="0"/>
          </a:p>
        </p:txBody>
      </p:sp>
      <p:sp>
        <p:nvSpPr>
          <p:cNvPr id="17" name="Text 15"/>
          <p:cNvSpPr txBox="1"/>
          <p:nvPr/>
        </p:nvSpPr>
        <p:spPr>
          <a:xfrm>
            <a:off x="10332720" y="3520440"/>
            <a:ext cx="1097280" cy="502920"/>
          </a:xfrm>
          <a:prstGeom prst="rect">
            <a:avLst/>
          </a:prstGeom>
          <a:noFill/>
          <a:ln/>
        </p:spPr>
        <p:txBody>
          <a:bodyPr wrap="square" lIns="0" tIns="0" rIns="0" bIns="0" rtlCol="0" anchor="ctr"/>
          <a:lstStyle/>
          <a:p>
            <a:pPr marL="0" indent="0">
              <a:buNone/>
            </a:pPr>
            <a:r>
              <a:rPr lang="en-US" sz="1050" dirty="0">
                <a:solidFill>
                  <a:srgbClr val="1B2B2C"/>
                </a:solidFill>
                <a:latin typeface="Calibri" pitchFamily="34" charset="0"/>
                <a:ea typeface="Calibri" pitchFamily="34" charset="-122"/>
                <a:cs typeface="Calibri" pitchFamily="34" charset="-120"/>
              </a:rPr>
              <a:t>Medium</a:t>
            </a:r>
            <a:endParaRPr lang="en-US" sz="1050" dirty="0"/>
          </a:p>
        </p:txBody>
      </p:sp>
      <p:sp>
        <p:nvSpPr>
          <p:cNvPr id="18" name="Shape 16"/>
          <p:cNvSpPr/>
          <p:nvPr/>
        </p:nvSpPr>
        <p:spPr>
          <a:xfrm>
            <a:off x="7223760" y="4023360"/>
            <a:ext cx="4114800" cy="502920"/>
          </a:xfrm>
          <a:prstGeom prst="rect">
            <a:avLst/>
          </a:prstGeom>
          <a:solidFill>
            <a:srgbClr val="E4F1EF"/>
          </a:solidFill>
          <a:ln w="6350">
            <a:solidFill>
              <a:srgbClr val="D8E6E4"/>
            </a:solidFill>
            <a:prstDash val="solid"/>
          </a:ln>
        </p:spPr>
      </p:sp>
      <p:sp>
        <p:nvSpPr>
          <p:cNvPr id="19" name="Text 17"/>
          <p:cNvSpPr txBox="1"/>
          <p:nvPr/>
        </p:nvSpPr>
        <p:spPr>
          <a:xfrm>
            <a:off x="7315200" y="4023360"/>
            <a:ext cx="2194560" cy="502920"/>
          </a:xfrm>
          <a:prstGeom prst="rect">
            <a:avLst/>
          </a:prstGeom>
          <a:noFill/>
          <a:ln/>
        </p:spPr>
        <p:txBody>
          <a:bodyPr wrap="square" lIns="0" tIns="0" rIns="0" bIns="0" rtlCol="0" anchor="ctr"/>
          <a:lstStyle/>
          <a:p>
            <a:pPr marL="0" indent="0">
              <a:buNone/>
            </a:pPr>
            <a:r>
              <a:rPr lang="en-US" sz="1150" dirty="0">
                <a:solidFill>
                  <a:srgbClr val="1B2B2C"/>
                </a:solidFill>
                <a:latin typeface="Calibri" pitchFamily="34" charset="0"/>
                <a:ea typeface="Calibri" pitchFamily="34" charset="-122"/>
                <a:cs typeface="Calibri" pitchFamily="34" charset="-120"/>
              </a:rPr>
              <a:t>Delay / Observe</a:t>
            </a:r>
            <a:endParaRPr lang="en-US" sz="1150" dirty="0"/>
          </a:p>
        </p:txBody>
      </p:sp>
      <p:sp>
        <p:nvSpPr>
          <p:cNvPr id="20" name="Text 18"/>
          <p:cNvSpPr txBox="1"/>
          <p:nvPr/>
        </p:nvSpPr>
        <p:spPr>
          <a:xfrm>
            <a:off x="9509760" y="4023360"/>
            <a:ext cx="822960" cy="502920"/>
          </a:xfrm>
          <a:prstGeom prst="rect">
            <a:avLst/>
          </a:prstGeom>
          <a:noFill/>
          <a:ln/>
        </p:spPr>
        <p:txBody>
          <a:bodyPr wrap="square" lIns="0" tIns="0" rIns="0" bIns="0" rtlCol="0" anchor="ctr"/>
          <a:lstStyle/>
          <a:p>
            <a:pPr marL="0" indent="0">
              <a:buNone/>
            </a:pPr>
            <a:r>
              <a:rPr lang="en-US" sz="1100" dirty="0">
                <a:solidFill>
                  <a:srgbClr val="1B2B2C"/>
                </a:solidFill>
                <a:latin typeface="Calibri" pitchFamily="34" charset="0"/>
                <a:ea typeface="Calibri" pitchFamily="34" charset="-122"/>
                <a:cs typeface="Calibri" pitchFamily="34" charset="-120"/>
              </a:rPr>
              <a:t>Slow</a:t>
            </a:r>
            <a:endParaRPr lang="en-US" sz="1100" dirty="0"/>
          </a:p>
        </p:txBody>
      </p:sp>
      <p:sp>
        <p:nvSpPr>
          <p:cNvPr id="21" name="Text 19"/>
          <p:cNvSpPr txBox="1"/>
          <p:nvPr/>
        </p:nvSpPr>
        <p:spPr>
          <a:xfrm>
            <a:off x="10332720" y="4023360"/>
            <a:ext cx="1097280" cy="502920"/>
          </a:xfrm>
          <a:prstGeom prst="rect">
            <a:avLst/>
          </a:prstGeom>
          <a:noFill/>
          <a:ln/>
        </p:spPr>
        <p:txBody>
          <a:bodyPr wrap="square" lIns="0" tIns="0" rIns="0" bIns="0" rtlCol="0" anchor="ctr"/>
          <a:lstStyle/>
          <a:p>
            <a:pPr marL="0" indent="0">
              <a:buNone/>
            </a:pPr>
            <a:r>
              <a:rPr lang="en-US" sz="1050" dirty="0">
                <a:solidFill>
                  <a:srgbClr val="1B2B2C"/>
                </a:solidFill>
                <a:latin typeface="Calibri" pitchFamily="34" charset="0"/>
                <a:ea typeface="Calibri" pitchFamily="34" charset="-122"/>
                <a:cs typeface="Calibri" pitchFamily="34" charset="-120"/>
              </a:rPr>
              <a:t>High — rejected</a:t>
            </a:r>
            <a:endParaRPr lang="en-US" sz="1050" dirty="0"/>
          </a:p>
        </p:txBody>
      </p:sp>
      <p:sp>
        <p:nvSpPr>
          <p:cNvPr id="22" name="Text 20"/>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10</a:t>
            </a:r>
            <a:endParaRPr lang="en-US" sz="1000" dirty="0"/>
          </a:p>
        </p:txBody>
      </p:sp>
      <p:sp>
        <p:nvSpPr>
          <p:cNvPr id="23" name="Text 21"/>
          <p:cNvSpPr txBox="1"/>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5B6E70"/>
                </a:solidFill>
                <a:latin typeface="Calibri" pitchFamily="34" charset="0"/>
                <a:ea typeface="Calibri" pitchFamily="34" charset="-122"/>
                <a:cs typeface="Calibri" pitchFamily="34" charset="-120"/>
              </a:rPr>
              <a:t>Goal-Based Agent in Healthcare Diagnosis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lIns="0" tIns="0" rIns="0" bIns="0" rtlCol="0" anchor="ctr"/>
          <a:lstStyle/>
          <a:p>
            <a:pPr marL="0" indent="0">
              <a:buNone/>
            </a:pPr>
            <a:r>
              <a:rPr lang="en-US" sz="3000" b="1" dirty="0">
                <a:solidFill>
                  <a:srgbClr val="1B2B2C"/>
                </a:solidFill>
                <a:latin typeface="Cambria" pitchFamily="34" charset="0"/>
                <a:ea typeface="Cambria" pitchFamily="34" charset="-122"/>
                <a:cs typeface="Cambria" pitchFamily="34" charset="-120"/>
              </a:rPr>
              <a:t>The Data Pipeline Behind the Agent</a:t>
            </a:r>
            <a:endParaRPr lang="en-US" sz="3000" dirty="0"/>
          </a:p>
        </p:txBody>
      </p:sp>
      <p:sp>
        <p:nvSpPr>
          <p:cNvPr id="3" name="Text 1"/>
          <p:cNvSpPr txBox="1"/>
          <p:nvPr/>
        </p:nvSpPr>
        <p:spPr>
          <a:xfrm>
            <a:off x="548640" y="1005840"/>
            <a:ext cx="11091672" cy="365760"/>
          </a:xfrm>
          <a:prstGeom prst="rect">
            <a:avLst/>
          </a:prstGeom>
          <a:noFill/>
          <a:ln/>
        </p:spPr>
        <p:txBody>
          <a:bodyPr wrap="square" lIns="0" tIns="0" rIns="0" bIns="0"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How raw patient data becomes a recommendation</a:t>
            </a:r>
            <a:endParaRPr lang="en-US" sz="1400" dirty="0"/>
          </a:p>
        </p:txBody>
      </p:sp>
      <p:sp>
        <p:nvSpPr>
          <p:cNvPr id="4" name="Shape 2"/>
          <p:cNvSpPr/>
          <p:nvPr/>
        </p:nvSpPr>
        <p:spPr>
          <a:xfrm>
            <a:off x="548640" y="2743200"/>
            <a:ext cx="1691640" cy="1371600"/>
          </a:xfrm>
          <a:prstGeom prst="roundRect">
            <a:avLst>
              <a:gd name="adj" fmla="val 6667"/>
            </a:avLst>
          </a:prstGeom>
          <a:solidFill>
            <a:srgbClr val="028090"/>
          </a:solidFill>
          <a:ln/>
        </p:spPr>
      </p:sp>
      <p:sp>
        <p:nvSpPr>
          <p:cNvPr id="5" name="Text 3"/>
          <p:cNvSpPr txBox="1"/>
          <p:nvPr/>
        </p:nvSpPr>
        <p:spPr>
          <a:xfrm>
            <a:off x="621792" y="2743200"/>
            <a:ext cx="1545336" cy="1371600"/>
          </a:xfrm>
          <a:prstGeom prst="rect">
            <a:avLst/>
          </a:prstGeom>
          <a:noFill/>
          <a:ln/>
        </p:spPr>
        <p:txBody>
          <a:bodyPr wrap="square" lIns="0" tIns="0" rIns="0" bIns="0" rtlCol="0" anchor="ctr"/>
          <a:lstStyle/>
          <a:p>
            <a:pPr marL="0" indent="0" algn="ctr">
              <a:lnSpc>
                <a:spcPct val="110000"/>
              </a:lnSpc>
              <a:buNone/>
            </a:pPr>
            <a:r>
              <a:rPr lang="en-US" sz="1200" b="1" dirty="0">
                <a:solidFill>
                  <a:srgbClr val="FFFFFF"/>
                </a:solidFill>
                <a:latin typeface="Cambria" pitchFamily="34" charset="0"/>
                <a:ea typeface="Cambria" pitchFamily="34" charset="-122"/>
                <a:cs typeface="Cambria" pitchFamily="34" charset="-120"/>
              </a:rPr>
              <a:t>Data</a:t>
            </a:r>
            <a:endParaRPr lang="en-US" sz="1200" dirty="0"/>
          </a:p>
          <a:p>
            <a:pPr marL="0" indent="0" algn="ctr">
              <a:lnSpc>
                <a:spcPct val="110000"/>
              </a:lnSpc>
              <a:buNone/>
            </a:pPr>
            <a:r>
              <a:rPr lang="en-US" sz="1200" b="1" dirty="0">
                <a:solidFill>
                  <a:srgbClr val="FFFFFF"/>
                </a:solidFill>
                <a:latin typeface="Cambria" pitchFamily="34" charset="0"/>
                <a:ea typeface="Cambria" pitchFamily="34" charset="-122"/>
                <a:cs typeface="Cambria" pitchFamily="34" charset="-120"/>
              </a:rPr>
              <a:t>Ingestion</a:t>
            </a:r>
            <a:endParaRPr lang="en-US" sz="1200" dirty="0"/>
          </a:p>
        </p:txBody>
      </p:sp>
      <p:sp>
        <p:nvSpPr>
          <p:cNvPr id="6" name="Shape 4"/>
          <p:cNvSpPr/>
          <p:nvPr/>
        </p:nvSpPr>
        <p:spPr>
          <a:xfrm>
            <a:off x="2240280" y="3328416"/>
            <a:ext cx="188366" cy="201168"/>
          </a:xfrm>
          <a:prstGeom prst="rightArrow">
            <a:avLst/>
          </a:prstGeom>
          <a:solidFill>
            <a:srgbClr val="5B6E70"/>
          </a:solidFill>
          <a:ln/>
        </p:spPr>
      </p:sp>
      <p:sp>
        <p:nvSpPr>
          <p:cNvPr id="7" name="Shape 5"/>
          <p:cNvSpPr/>
          <p:nvPr/>
        </p:nvSpPr>
        <p:spPr>
          <a:xfrm>
            <a:off x="2428646" y="2743200"/>
            <a:ext cx="1691640" cy="1371600"/>
          </a:xfrm>
          <a:prstGeom prst="roundRect">
            <a:avLst>
              <a:gd name="adj" fmla="val 6667"/>
            </a:avLst>
          </a:prstGeom>
          <a:solidFill>
            <a:srgbClr val="00A896"/>
          </a:solidFill>
          <a:ln/>
        </p:spPr>
      </p:sp>
      <p:sp>
        <p:nvSpPr>
          <p:cNvPr id="8" name="Text 6"/>
          <p:cNvSpPr txBox="1"/>
          <p:nvPr/>
        </p:nvSpPr>
        <p:spPr>
          <a:xfrm>
            <a:off x="2501798" y="2743200"/>
            <a:ext cx="1545336" cy="1371600"/>
          </a:xfrm>
          <a:prstGeom prst="rect">
            <a:avLst/>
          </a:prstGeom>
          <a:noFill/>
          <a:ln/>
        </p:spPr>
        <p:txBody>
          <a:bodyPr wrap="square" lIns="0" tIns="0" rIns="0" bIns="0" rtlCol="0" anchor="ctr"/>
          <a:lstStyle/>
          <a:p>
            <a:pPr marL="0" indent="0" algn="ctr">
              <a:lnSpc>
                <a:spcPct val="110000"/>
              </a:lnSpc>
              <a:buNone/>
            </a:pPr>
            <a:r>
              <a:rPr lang="en-US" sz="1200" b="1" dirty="0">
                <a:solidFill>
                  <a:srgbClr val="FFFFFF"/>
                </a:solidFill>
                <a:latin typeface="Cambria" pitchFamily="34" charset="0"/>
                <a:ea typeface="Cambria" pitchFamily="34" charset="-122"/>
                <a:cs typeface="Cambria" pitchFamily="34" charset="-120"/>
              </a:rPr>
              <a:t>Cleaning &amp;</a:t>
            </a:r>
            <a:endParaRPr lang="en-US" sz="1200" dirty="0"/>
          </a:p>
          <a:p>
            <a:pPr marL="0" indent="0" algn="ctr">
              <a:lnSpc>
                <a:spcPct val="110000"/>
              </a:lnSpc>
              <a:buNone/>
            </a:pPr>
            <a:r>
              <a:rPr lang="en-US" sz="1200" b="1" dirty="0">
                <a:solidFill>
                  <a:srgbClr val="FFFFFF"/>
                </a:solidFill>
                <a:latin typeface="Cambria" pitchFamily="34" charset="0"/>
                <a:ea typeface="Cambria" pitchFamily="34" charset="-122"/>
                <a:cs typeface="Cambria" pitchFamily="34" charset="-120"/>
              </a:rPr>
              <a:t>Preprocessing</a:t>
            </a:r>
            <a:endParaRPr lang="en-US" sz="1200" dirty="0"/>
          </a:p>
        </p:txBody>
      </p:sp>
      <p:sp>
        <p:nvSpPr>
          <p:cNvPr id="9" name="Shape 7"/>
          <p:cNvSpPr/>
          <p:nvPr/>
        </p:nvSpPr>
        <p:spPr>
          <a:xfrm>
            <a:off x="4120286" y="3328416"/>
            <a:ext cx="188366" cy="201168"/>
          </a:xfrm>
          <a:prstGeom prst="rightArrow">
            <a:avLst/>
          </a:prstGeom>
          <a:solidFill>
            <a:srgbClr val="5B6E70"/>
          </a:solidFill>
          <a:ln/>
        </p:spPr>
      </p:sp>
      <p:sp>
        <p:nvSpPr>
          <p:cNvPr id="10" name="Shape 8"/>
          <p:cNvSpPr/>
          <p:nvPr/>
        </p:nvSpPr>
        <p:spPr>
          <a:xfrm>
            <a:off x="4308653" y="2743200"/>
            <a:ext cx="1691640" cy="1371600"/>
          </a:xfrm>
          <a:prstGeom prst="roundRect">
            <a:avLst>
              <a:gd name="adj" fmla="val 6667"/>
            </a:avLst>
          </a:prstGeom>
          <a:solidFill>
            <a:srgbClr val="028090"/>
          </a:solidFill>
          <a:ln/>
        </p:spPr>
      </p:sp>
      <p:sp>
        <p:nvSpPr>
          <p:cNvPr id="11" name="Text 9"/>
          <p:cNvSpPr txBox="1"/>
          <p:nvPr/>
        </p:nvSpPr>
        <p:spPr>
          <a:xfrm>
            <a:off x="4381805" y="2743200"/>
            <a:ext cx="1545336" cy="1371600"/>
          </a:xfrm>
          <a:prstGeom prst="rect">
            <a:avLst/>
          </a:prstGeom>
          <a:noFill/>
          <a:ln/>
        </p:spPr>
        <p:txBody>
          <a:bodyPr wrap="square" lIns="0" tIns="0" rIns="0" bIns="0" rtlCol="0" anchor="ctr"/>
          <a:lstStyle/>
          <a:p>
            <a:pPr marL="0" indent="0" algn="ctr">
              <a:lnSpc>
                <a:spcPct val="110000"/>
              </a:lnSpc>
              <a:buNone/>
            </a:pPr>
            <a:r>
              <a:rPr lang="en-US" sz="1200" b="1" dirty="0">
                <a:solidFill>
                  <a:srgbClr val="FFFFFF"/>
                </a:solidFill>
                <a:latin typeface="Cambria" pitchFamily="34" charset="0"/>
                <a:ea typeface="Cambria" pitchFamily="34" charset="-122"/>
                <a:cs typeface="Cambria" pitchFamily="34" charset="-120"/>
              </a:rPr>
              <a:t>Feature</a:t>
            </a:r>
            <a:endParaRPr lang="en-US" sz="1200" dirty="0"/>
          </a:p>
          <a:p>
            <a:pPr marL="0" indent="0" algn="ctr">
              <a:lnSpc>
                <a:spcPct val="110000"/>
              </a:lnSpc>
              <a:buNone/>
            </a:pPr>
            <a:r>
              <a:rPr lang="en-US" sz="1200" b="1" dirty="0">
                <a:solidFill>
                  <a:srgbClr val="FFFFFF"/>
                </a:solidFill>
                <a:latin typeface="Cambria" pitchFamily="34" charset="0"/>
                <a:ea typeface="Cambria" pitchFamily="34" charset="-122"/>
                <a:cs typeface="Cambria" pitchFamily="34" charset="-120"/>
              </a:rPr>
              <a:t>Extraction</a:t>
            </a:r>
            <a:endParaRPr lang="en-US" sz="1200" dirty="0"/>
          </a:p>
        </p:txBody>
      </p:sp>
      <p:sp>
        <p:nvSpPr>
          <p:cNvPr id="12" name="Shape 10"/>
          <p:cNvSpPr/>
          <p:nvPr/>
        </p:nvSpPr>
        <p:spPr>
          <a:xfrm>
            <a:off x="6000293" y="3328416"/>
            <a:ext cx="188366" cy="201168"/>
          </a:xfrm>
          <a:prstGeom prst="rightArrow">
            <a:avLst/>
          </a:prstGeom>
          <a:solidFill>
            <a:srgbClr val="5B6E70"/>
          </a:solidFill>
          <a:ln/>
        </p:spPr>
      </p:sp>
      <p:sp>
        <p:nvSpPr>
          <p:cNvPr id="13" name="Shape 11"/>
          <p:cNvSpPr/>
          <p:nvPr/>
        </p:nvSpPr>
        <p:spPr>
          <a:xfrm>
            <a:off x="6188659" y="2743200"/>
            <a:ext cx="1691640" cy="1371600"/>
          </a:xfrm>
          <a:prstGeom prst="roundRect">
            <a:avLst>
              <a:gd name="adj" fmla="val 6667"/>
            </a:avLst>
          </a:prstGeom>
          <a:solidFill>
            <a:srgbClr val="00A896"/>
          </a:solidFill>
          <a:ln/>
        </p:spPr>
      </p:sp>
      <p:sp>
        <p:nvSpPr>
          <p:cNvPr id="14" name="Text 12"/>
          <p:cNvSpPr txBox="1"/>
          <p:nvPr/>
        </p:nvSpPr>
        <p:spPr>
          <a:xfrm>
            <a:off x="6261811" y="2743200"/>
            <a:ext cx="1545336" cy="1371600"/>
          </a:xfrm>
          <a:prstGeom prst="rect">
            <a:avLst/>
          </a:prstGeom>
          <a:noFill/>
          <a:ln/>
        </p:spPr>
        <p:txBody>
          <a:bodyPr wrap="square" lIns="0" tIns="0" rIns="0" bIns="0" rtlCol="0" anchor="ctr"/>
          <a:lstStyle/>
          <a:p>
            <a:pPr marL="0" indent="0" algn="ctr">
              <a:lnSpc>
                <a:spcPct val="110000"/>
              </a:lnSpc>
              <a:buNone/>
            </a:pPr>
            <a:r>
              <a:rPr lang="en-US" sz="1200" b="1" dirty="0">
                <a:solidFill>
                  <a:srgbClr val="FFFFFF"/>
                </a:solidFill>
                <a:latin typeface="Cambria" pitchFamily="34" charset="0"/>
                <a:ea typeface="Cambria" pitchFamily="34" charset="-122"/>
                <a:cs typeface="Cambria" pitchFamily="34" charset="-120"/>
              </a:rPr>
              <a:t>Knowledge Base</a:t>
            </a:r>
            <a:endParaRPr lang="en-US" sz="1200" dirty="0"/>
          </a:p>
          <a:p>
            <a:pPr marL="0" indent="0" algn="ctr">
              <a:lnSpc>
                <a:spcPct val="110000"/>
              </a:lnSpc>
              <a:buNone/>
            </a:pPr>
            <a:r>
              <a:rPr lang="en-US" sz="1200" b="1" dirty="0">
                <a:solidFill>
                  <a:srgbClr val="FFFFFF"/>
                </a:solidFill>
                <a:latin typeface="Cambria" pitchFamily="34" charset="0"/>
                <a:ea typeface="Cambria" pitchFamily="34" charset="-122"/>
                <a:cs typeface="Cambria" pitchFamily="34" charset="-120"/>
              </a:rPr>
              <a:t>/ ML Model</a:t>
            </a:r>
            <a:endParaRPr lang="en-US" sz="1200" dirty="0"/>
          </a:p>
        </p:txBody>
      </p:sp>
      <p:sp>
        <p:nvSpPr>
          <p:cNvPr id="15" name="Shape 13"/>
          <p:cNvSpPr/>
          <p:nvPr/>
        </p:nvSpPr>
        <p:spPr>
          <a:xfrm>
            <a:off x="7880299" y="3328416"/>
            <a:ext cx="188366" cy="201168"/>
          </a:xfrm>
          <a:prstGeom prst="rightArrow">
            <a:avLst/>
          </a:prstGeom>
          <a:solidFill>
            <a:srgbClr val="5B6E70"/>
          </a:solidFill>
          <a:ln/>
        </p:spPr>
      </p:sp>
      <p:sp>
        <p:nvSpPr>
          <p:cNvPr id="16" name="Shape 14"/>
          <p:cNvSpPr/>
          <p:nvPr/>
        </p:nvSpPr>
        <p:spPr>
          <a:xfrm>
            <a:off x="8068666" y="2743200"/>
            <a:ext cx="1691640" cy="1371600"/>
          </a:xfrm>
          <a:prstGeom prst="roundRect">
            <a:avLst>
              <a:gd name="adj" fmla="val 6667"/>
            </a:avLst>
          </a:prstGeom>
          <a:solidFill>
            <a:srgbClr val="028090"/>
          </a:solidFill>
          <a:ln/>
        </p:spPr>
      </p:sp>
      <p:sp>
        <p:nvSpPr>
          <p:cNvPr id="17" name="Text 15"/>
          <p:cNvSpPr txBox="1"/>
          <p:nvPr/>
        </p:nvSpPr>
        <p:spPr>
          <a:xfrm>
            <a:off x="8141818" y="2743200"/>
            <a:ext cx="1545336" cy="1371600"/>
          </a:xfrm>
          <a:prstGeom prst="rect">
            <a:avLst/>
          </a:prstGeom>
          <a:noFill/>
          <a:ln/>
        </p:spPr>
        <p:txBody>
          <a:bodyPr wrap="square" lIns="0" tIns="0" rIns="0" bIns="0" rtlCol="0" anchor="ctr"/>
          <a:lstStyle/>
          <a:p>
            <a:pPr marL="0" indent="0" algn="ctr">
              <a:lnSpc>
                <a:spcPct val="110000"/>
              </a:lnSpc>
              <a:buNone/>
            </a:pPr>
            <a:r>
              <a:rPr lang="en-US" sz="1200" b="1" dirty="0">
                <a:solidFill>
                  <a:srgbClr val="FFFFFF"/>
                </a:solidFill>
                <a:latin typeface="Cambria" pitchFamily="34" charset="0"/>
                <a:ea typeface="Cambria" pitchFamily="34" charset="-122"/>
                <a:cs typeface="Cambria" pitchFamily="34" charset="-120"/>
              </a:rPr>
              <a:t>Agent</a:t>
            </a:r>
            <a:endParaRPr lang="en-US" sz="1200" dirty="0"/>
          </a:p>
          <a:p>
            <a:pPr marL="0" indent="0" algn="ctr">
              <a:lnSpc>
                <a:spcPct val="110000"/>
              </a:lnSpc>
              <a:buNone/>
            </a:pPr>
            <a:r>
              <a:rPr lang="en-US" sz="1200" b="1" dirty="0">
                <a:solidFill>
                  <a:srgbClr val="FFFFFF"/>
                </a:solidFill>
                <a:latin typeface="Cambria" pitchFamily="34" charset="0"/>
                <a:ea typeface="Cambria" pitchFamily="34" charset="-122"/>
                <a:cs typeface="Cambria" pitchFamily="34" charset="-120"/>
              </a:rPr>
              <a:t>Reasoning</a:t>
            </a:r>
            <a:endParaRPr lang="en-US" sz="1200" dirty="0"/>
          </a:p>
        </p:txBody>
      </p:sp>
      <p:sp>
        <p:nvSpPr>
          <p:cNvPr id="18" name="Shape 16"/>
          <p:cNvSpPr/>
          <p:nvPr/>
        </p:nvSpPr>
        <p:spPr>
          <a:xfrm>
            <a:off x="9760306" y="3328416"/>
            <a:ext cx="188366" cy="201168"/>
          </a:xfrm>
          <a:prstGeom prst="rightArrow">
            <a:avLst/>
          </a:prstGeom>
          <a:solidFill>
            <a:srgbClr val="5B6E70"/>
          </a:solidFill>
          <a:ln/>
        </p:spPr>
      </p:sp>
      <p:sp>
        <p:nvSpPr>
          <p:cNvPr id="19" name="Shape 17"/>
          <p:cNvSpPr/>
          <p:nvPr/>
        </p:nvSpPr>
        <p:spPr>
          <a:xfrm>
            <a:off x="9948672" y="2743200"/>
            <a:ext cx="1691640" cy="1371600"/>
          </a:xfrm>
          <a:prstGeom prst="roundRect">
            <a:avLst>
              <a:gd name="adj" fmla="val 6667"/>
            </a:avLst>
          </a:prstGeom>
          <a:solidFill>
            <a:srgbClr val="00A896"/>
          </a:solidFill>
          <a:ln/>
        </p:spPr>
      </p:sp>
      <p:sp>
        <p:nvSpPr>
          <p:cNvPr id="20" name="Text 18"/>
          <p:cNvSpPr txBox="1"/>
          <p:nvPr/>
        </p:nvSpPr>
        <p:spPr>
          <a:xfrm>
            <a:off x="10021824" y="2743200"/>
            <a:ext cx="1545336" cy="1371600"/>
          </a:xfrm>
          <a:prstGeom prst="rect">
            <a:avLst/>
          </a:prstGeom>
          <a:noFill/>
          <a:ln/>
        </p:spPr>
        <p:txBody>
          <a:bodyPr wrap="square" lIns="0" tIns="0" rIns="0" bIns="0" rtlCol="0" anchor="ctr"/>
          <a:lstStyle/>
          <a:p>
            <a:pPr marL="0" indent="0" algn="ctr">
              <a:lnSpc>
                <a:spcPct val="110000"/>
              </a:lnSpc>
              <a:buNone/>
            </a:pPr>
            <a:r>
              <a:rPr lang="en-US" sz="1200" b="1" dirty="0">
                <a:solidFill>
                  <a:srgbClr val="FFFFFF"/>
                </a:solidFill>
                <a:latin typeface="Cambria" pitchFamily="34" charset="0"/>
                <a:ea typeface="Cambria" pitchFamily="34" charset="-122"/>
                <a:cs typeface="Cambria" pitchFamily="34" charset="-120"/>
              </a:rPr>
              <a:t>Output &amp;</a:t>
            </a:r>
            <a:endParaRPr lang="en-US" sz="1200" dirty="0"/>
          </a:p>
          <a:p>
            <a:pPr marL="0" indent="0" algn="ctr">
              <a:lnSpc>
                <a:spcPct val="110000"/>
              </a:lnSpc>
              <a:buNone/>
            </a:pPr>
            <a:r>
              <a:rPr lang="en-US" sz="1200" b="1" dirty="0">
                <a:solidFill>
                  <a:srgbClr val="FFFFFF"/>
                </a:solidFill>
                <a:latin typeface="Cambria" pitchFamily="34" charset="0"/>
                <a:ea typeface="Cambria" pitchFamily="34" charset="-122"/>
                <a:cs typeface="Cambria" pitchFamily="34" charset="-120"/>
              </a:rPr>
              <a:t>Recommendation</a:t>
            </a:r>
            <a:endParaRPr lang="en-US" sz="1200" dirty="0"/>
          </a:p>
        </p:txBody>
      </p:sp>
      <p:sp>
        <p:nvSpPr>
          <p:cNvPr id="21" name="Shape 19"/>
          <p:cNvSpPr/>
          <p:nvPr/>
        </p:nvSpPr>
        <p:spPr>
          <a:xfrm>
            <a:off x="548640" y="4572000"/>
            <a:ext cx="11091672" cy="1463040"/>
          </a:xfrm>
          <a:prstGeom prst="roundRect">
            <a:avLst>
              <a:gd name="adj" fmla="val 5000"/>
            </a:avLst>
          </a:prstGeom>
          <a:solidFill>
            <a:srgbClr val="F0F7F6"/>
          </a:solidFill>
          <a:ln/>
          <a:effectLst>
            <a:outerShdw blurRad="76200" dist="25400" dir="5400000" algn="bl" rotWithShape="0">
              <a:srgbClr val="5B6E70">
                <a:alpha val="18000"/>
              </a:srgbClr>
            </a:outerShdw>
          </a:effectLst>
        </p:spPr>
      </p:sp>
      <p:sp>
        <p:nvSpPr>
          <p:cNvPr id="22" name="Text 20"/>
          <p:cNvSpPr txBox="1"/>
          <p:nvPr/>
        </p:nvSpPr>
        <p:spPr>
          <a:xfrm>
            <a:off x="822960" y="4709160"/>
            <a:ext cx="10515600" cy="118872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300" dirty="0">
                <a:solidFill>
                  <a:srgbClr val="1B2B2C"/>
                </a:solidFill>
                <a:latin typeface="Calibri" pitchFamily="34" charset="0"/>
                <a:ea typeface="Calibri" pitchFamily="34" charset="-122"/>
                <a:cs typeface="Calibri" pitchFamily="34" charset="-120"/>
              </a:rPr>
              <a:t>Ingestion &amp; cleaning: raw sensor/EHR data is collected and errors or missing values are handled</a:t>
            </a:r>
            <a:endParaRPr lang="en-US" sz="1300" dirty="0"/>
          </a:p>
          <a:p>
            <a:pPr marL="228600" indent="-228600">
              <a:lnSpc>
                <a:spcPct val="108000"/>
              </a:lnSpc>
              <a:spcAft>
                <a:spcPts val="800"/>
              </a:spcAft>
              <a:buSzPct val="100000"/>
              <a:buChar char="•"/>
            </a:pPr>
            <a:r>
              <a:rPr lang="en-US" sz="1300" dirty="0">
                <a:solidFill>
                  <a:srgbClr val="1B2B2C"/>
                </a:solidFill>
                <a:latin typeface="Calibri" pitchFamily="34" charset="0"/>
                <a:ea typeface="Calibri" pitchFamily="34" charset="-122"/>
                <a:cs typeface="Calibri" pitchFamily="34" charset="-120"/>
              </a:rPr>
              <a:t>Feature extraction + knowledge base: turns raw values into meaningful clinical signals the agent can reason over</a:t>
            </a:r>
            <a:endParaRPr lang="en-US" sz="1300" dirty="0"/>
          </a:p>
        </p:txBody>
      </p:sp>
      <p:sp>
        <p:nvSpPr>
          <p:cNvPr id="23" name="Text 21"/>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11</a:t>
            </a:r>
            <a:endParaRPr lang="en-US" sz="1000" dirty="0"/>
          </a:p>
        </p:txBody>
      </p:sp>
      <p:sp>
        <p:nvSpPr>
          <p:cNvPr id="24" name="Text 22"/>
          <p:cNvSpPr txBox="1"/>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5B6E70"/>
                </a:solidFill>
                <a:latin typeface="Calibri" pitchFamily="34" charset="0"/>
                <a:ea typeface="Calibri" pitchFamily="34" charset="-122"/>
                <a:cs typeface="Calibri" pitchFamily="34" charset="-120"/>
              </a:rPr>
              <a:t>Goal-Based Agent in Healthcare Diagnosis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lIns="0" tIns="0" rIns="0" bIns="0" rtlCol="0" anchor="ctr"/>
          <a:lstStyle/>
          <a:p>
            <a:pPr marL="0" indent="0">
              <a:buNone/>
            </a:pPr>
            <a:r>
              <a:rPr lang="en-US" sz="3000" b="1" dirty="0">
                <a:solidFill>
                  <a:srgbClr val="1B2B2C"/>
                </a:solidFill>
                <a:latin typeface="Cambria" pitchFamily="34" charset="0"/>
                <a:ea typeface="Cambria" pitchFamily="34" charset="-122"/>
                <a:cs typeface="Cambria" pitchFamily="34" charset="-120"/>
              </a:rPr>
              <a:t>Putting It All Together</a:t>
            </a:r>
            <a:endParaRPr lang="en-US" sz="3000" dirty="0"/>
          </a:p>
        </p:txBody>
      </p:sp>
      <p:sp>
        <p:nvSpPr>
          <p:cNvPr id="3" name="Text 1"/>
          <p:cNvSpPr txBox="1"/>
          <p:nvPr/>
        </p:nvSpPr>
        <p:spPr>
          <a:xfrm>
            <a:off x="548640" y="1005840"/>
            <a:ext cx="11091672" cy="365760"/>
          </a:xfrm>
          <a:prstGeom prst="rect">
            <a:avLst/>
          </a:prstGeom>
          <a:noFill/>
          <a:ln/>
        </p:spPr>
        <p:txBody>
          <a:bodyPr wrap="square" lIns="0" tIns="0" rIns="0" bIns="0"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Full case walkthrough — 55-year-old patient, chest pain</a:t>
            </a:r>
            <a:endParaRPr lang="en-US" sz="1400" dirty="0"/>
          </a:p>
        </p:txBody>
      </p:sp>
      <p:sp>
        <p:nvSpPr>
          <p:cNvPr id="4" name="Shape 2"/>
          <p:cNvSpPr/>
          <p:nvPr/>
        </p:nvSpPr>
        <p:spPr>
          <a:xfrm>
            <a:off x="548640" y="1874520"/>
            <a:ext cx="2377440" cy="603504"/>
          </a:xfrm>
          <a:prstGeom prst="roundRect">
            <a:avLst>
              <a:gd name="adj" fmla="val 9091"/>
            </a:avLst>
          </a:prstGeom>
          <a:solidFill>
            <a:srgbClr val="028090"/>
          </a:solidFill>
          <a:ln/>
        </p:spPr>
      </p:sp>
      <p:sp>
        <p:nvSpPr>
          <p:cNvPr id="5" name="Text 3"/>
          <p:cNvSpPr txBox="1"/>
          <p:nvPr/>
        </p:nvSpPr>
        <p:spPr>
          <a:xfrm>
            <a:off x="548640" y="1874520"/>
            <a:ext cx="2377440" cy="60350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Percept</a:t>
            </a:r>
            <a:endParaRPr lang="en-US" sz="1300" dirty="0"/>
          </a:p>
        </p:txBody>
      </p:sp>
      <p:sp>
        <p:nvSpPr>
          <p:cNvPr id="6" name="Shape 4"/>
          <p:cNvSpPr/>
          <p:nvPr/>
        </p:nvSpPr>
        <p:spPr>
          <a:xfrm>
            <a:off x="3063240" y="1874520"/>
            <a:ext cx="8595360" cy="603504"/>
          </a:xfrm>
          <a:prstGeom prst="roundRect">
            <a:avLst>
              <a:gd name="adj" fmla="val 9091"/>
            </a:avLst>
          </a:prstGeom>
          <a:solidFill>
            <a:srgbClr val="F0F7F6"/>
          </a:solidFill>
          <a:ln w="9525">
            <a:solidFill>
              <a:srgbClr val="E4EFED"/>
            </a:solidFill>
            <a:prstDash val="solid"/>
          </a:ln>
        </p:spPr>
      </p:sp>
      <p:sp>
        <p:nvSpPr>
          <p:cNvPr id="7" name="Text 5"/>
          <p:cNvSpPr txBox="1"/>
          <p:nvPr/>
        </p:nvSpPr>
        <p:spPr>
          <a:xfrm>
            <a:off x="3291840" y="1874520"/>
            <a:ext cx="8138160" cy="603504"/>
          </a:xfrm>
          <a:prstGeom prst="rect">
            <a:avLst/>
          </a:prstGeom>
          <a:noFill/>
          <a:ln/>
        </p:spPr>
        <p:txBody>
          <a:bodyPr wrap="square" lIns="0" tIns="0" rIns="0" bIns="0" rtlCol="0" anchor="ctr"/>
          <a:lstStyle/>
          <a:p>
            <a:pPr marL="0" indent="0">
              <a:buNone/>
            </a:pPr>
            <a:r>
              <a:rPr lang="en-US" sz="1350" dirty="0">
                <a:solidFill>
                  <a:srgbClr val="1B2B2C"/>
                </a:solidFill>
                <a:latin typeface="Calibri" pitchFamily="34" charset="0"/>
                <a:ea typeface="Calibri" pitchFamily="34" charset="-122"/>
                <a:cs typeface="Calibri" pitchFamily="34" charset="-120"/>
              </a:rPr>
              <a:t>Chest pain, sweating, BP dropping</a:t>
            </a:r>
            <a:endParaRPr lang="en-US" sz="1350" dirty="0"/>
          </a:p>
        </p:txBody>
      </p:sp>
      <p:sp>
        <p:nvSpPr>
          <p:cNvPr id="8" name="Shape 6"/>
          <p:cNvSpPr/>
          <p:nvPr/>
        </p:nvSpPr>
        <p:spPr>
          <a:xfrm>
            <a:off x="548640" y="2587752"/>
            <a:ext cx="2377440" cy="603504"/>
          </a:xfrm>
          <a:prstGeom prst="roundRect">
            <a:avLst>
              <a:gd name="adj" fmla="val 9091"/>
            </a:avLst>
          </a:prstGeom>
          <a:solidFill>
            <a:srgbClr val="028090"/>
          </a:solidFill>
          <a:ln/>
        </p:spPr>
      </p:sp>
      <p:sp>
        <p:nvSpPr>
          <p:cNvPr id="9" name="Text 7"/>
          <p:cNvSpPr txBox="1"/>
          <p:nvPr/>
        </p:nvSpPr>
        <p:spPr>
          <a:xfrm>
            <a:off x="548640" y="2587752"/>
            <a:ext cx="2377440" cy="60350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Goal</a:t>
            </a:r>
            <a:endParaRPr lang="en-US" sz="1300" dirty="0"/>
          </a:p>
        </p:txBody>
      </p:sp>
      <p:sp>
        <p:nvSpPr>
          <p:cNvPr id="10" name="Shape 8"/>
          <p:cNvSpPr/>
          <p:nvPr/>
        </p:nvSpPr>
        <p:spPr>
          <a:xfrm>
            <a:off x="3063240" y="2587752"/>
            <a:ext cx="8595360" cy="603504"/>
          </a:xfrm>
          <a:prstGeom prst="roundRect">
            <a:avLst>
              <a:gd name="adj" fmla="val 9091"/>
            </a:avLst>
          </a:prstGeom>
          <a:solidFill>
            <a:srgbClr val="FFFFFF"/>
          </a:solidFill>
          <a:ln w="9525">
            <a:solidFill>
              <a:srgbClr val="E4EFED"/>
            </a:solidFill>
            <a:prstDash val="solid"/>
          </a:ln>
        </p:spPr>
      </p:sp>
      <p:sp>
        <p:nvSpPr>
          <p:cNvPr id="11" name="Text 9"/>
          <p:cNvSpPr txBox="1"/>
          <p:nvPr/>
        </p:nvSpPr>
        <p:spPr>
          <a:xfrm>
            <a:off x="3291840" y="2587752"/>
            <a:ext cx="8138160" cy="603504"/>
          </a:xfrm>
          <a:prstGeom prst="rect">
            <a:avLst/>
          </a:prstGeom>
          <a:noFill/>
          <a:ln/>
        </p:spPr>
        <p:txBody>
          <a:bodyPr wrap="square" lIns="0" tIns="0" rIns="0" bIns="0" rtlCol="0" anchor="ctr"/>
          <a:lstStyle/>
          <a:p>
            <a:pPr marL="0" indent="0">
              <a:buNone/>
            </a:pPr>
            <a:r>
              <a:rPr lang="en-US" sz="1350" dirty="0">
                <a:solidFill>
                  <a:srgbClr val="1B2B2C"/>
                </a:solidFill>
                <a:latin typeface="Calibri" pitchFamily="34" charset="0"/>
                <a:ea typeface="Calibri" pitchFamily="34" charset="-122"/>
                <a:cs typeface="Calibri" pitchFamily="34" charset="-120"/>
              </a:rPr>
              <a:t>Rule out heart attack within 10 minutes</a:t>
            </a:r>
            <a:endParaRPr lang="en-US" sz="1350" dirty="0"/>
          </a:p>
        </p:txBody>
      </p:sp>
      <p:sp>
        <p:nvSpPr>
          <p:cNvPr id="12" name="Shape 10"/>
          <p:cNvSpPr/>
          <p:nvPr/>
        </p:nvSpPr>
        <p:spPr>
          <a:xfrm>
            <a:off x="548640" y="3300984"/>
            <a:ext cx="2377440" cy="603504"/>
          </a:xfrm>
          <a:prstGeom prst="roundRect">
            <a:avLst>
              <a:gd name="adj" fmla="val 9091"/>
            </a:avLst>
          </a:prstGeom>
          <a:solidFill>
            <a:srgbClr val="028090"/>
          </a:solidFill>
          <a:ln/>
        </p:spPr>
      </p:sp>
      <p:sp>
        <p:nvSpPr>
          <p:cNvPr id="13" name="Text 11"/>
          <p:cNvSpPr txBox="1"/>
          <p:nvPr/>
        </p:nvSpPr>
        <p:spPr>
          <a:xfrm>
            <a:off x="548640" y="3300984"/>
            <a:ext cx="2377440" cy="60350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Data Evaluated</a:t>
            </a:r>
            <a:endParaRPr lang="en-US" sz="1300" dirty="0"/>
          </a:p>
        </p:txBody>
      </p:sp>
      <p:sp>
        <p:nvSpPr>
          <p:cNvPr id="14" name="Shape 12"/>
          <p:cNvSpPr/>
          <p:nvPr/>
        </p:nvSpPr>
        <p:spPr>
          <a:xfrm>
            <a:off x="3063240" y="3300984"/>
            <a:ext cx="8595360" cy="603504"/>
          </a:xfrm>
          <a:prstGeom prst="roundRect">
            <a:avLst>
              <a:gd name="adj" fmla="val 9091"/>
            </a:avLst>
          </a:prstGeom>
          <a:solidFill>
            <a:srgbClr val="F0F7F6"/>
          </a:solidFill>
          <a:ln w="9525">
            <a:solidFill>
              <a:srgbClr val="E4EFED"/>
            </a:solidFill>
            <a:prstDash val="solid"/>
          </a:ln>
        </p:spPr>
      </p:sp>
      <p:sp>
        <p:nvSpPr>
          <p:cNvPr id="15" name="Text 13"/>
          <p:cNvSpPr txBox="1"/>
          <p:nvPr/>
        </p:nvSpPr>
        <p:spPr>
          <a:xfrm>
            <a:off x="3291840" y="3300984"/>
            <a:ext cx="8138160" cy="603504"/>
          </a:xfrm>
          <a:prstGeom prst="rect">
            <a:avLst/>
          </a:prstGeom>
          <a:noFill/>
          <a:ln/>
        </p:spPr>
        <p:txBody>
          <a:bodyPr wrap="square" lIns="0" tIns="0" rIns="0" bIns="0" rtlCol="0" anchor="ctr"/>
          <a:lstStyle/>
          <a:p>
            <a:pPr marL="0" indent="0">
              <a:buNone/>
            </a:pPr>
            <a:r>
              <a:rPr lang="en-US" sz="1350" dirty="0">
                <a:solidFill>
                  <a:srgbClr val="1B2B2C"/>
                </a:solidFill>
                <a:latin typeface="Calibri" pitchFamily="34" charset="0"/>
                <a:ea typeface="Calibri" pitchFamily="34" charset="-122"/>
                <a:cs typeface="Calibri" pitchFamily="34" charset="-120"/>
              </a:rPr>
              <a:t>ECG (abnormal), troponin (elevated), BP trend</a:t>
            </a:r>
            <a:endParaRPr lang="en-US" sz="1350" dirty="0"/>
          </a:p>
        </p:txBody>
      </p:sp>
      <p:sp>
        <p:nvSpPr>
          <p:cNvPr id="16" name="Shape 14"/>
          <p:cNvSpPr/>
          <p:nvPr/>
        </p:nvSpPr>
        <p:spPr>
          <a:xfrm>
            <a:off x="548640" y="4014216"/>
            <a:ext cx="2377440" cy="603504"/>
          </a:xfrm>
          <a:prstGeom prst="roundRect">
            <a:avLst>
              <a:gd name="adj" fmla="val 9091"/>
            </a:avLst>
          </a:prstGeom>
          <a:solidFill>
            <a:srgbClr val="028090"/>
          </a:solidFill>
          <a:ln/>
        </p:spPr>
      </p:sp>
      <p:sp>
        <p:nvSpPr>
          <p:cNvPr id="17" name="Text 15"/>
          <p:cNvSpPr txBox="1"/>
          <p:nvPr/>
        </p:nvSpPr>
        <p:spPr>
          <a:xfrm>
            <a:off x="548640" y="4014216"/>
            <a:ext cx="2377440" cy="60350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Decision</a:t>
            </a:r>
            <a:endParaRPr lang="en-US" sz="1300" dirty="0"/>
          </a:p>
        </p:txBody>
      </p:sp>
      <p:sp>
        <p:nvSpPr>
          <p:cNvPr id="18" name="Shape 16"/>
          <p:cNvSpPr/>
          <p:nvPr/>
        </p:nvSpPr>
        <p:spPr>
          <a:xfrm>
            <a:off x="3063240" y="4014216"/>
            <a:ext cx="8595360" cy="603504"/>
          </a:xfrm>
          <a:prstGeom prst="roundRect">
            <a:avLst>
              <a:gd name="adj" fmla="val 9091"/>
            </a:avLst>
          </a:prstGeom>
          <a:solidFill>
            <a:srgbClr val="FFFFFF"/>
          </a:solidFill>
          <a:ln w="9525">
            <a:solidFill>
              <a:srgbClr val="E4EFED"/>
            </a:solidFill>
            <a:prstDash val="solid"/>
          </a:ln>
        </p:spPr>
      </p:sp>
      <p:sp>
        <p:nvSpPr>
          <p:cNvPr id="19" name="Text 17"/>
          <p:cNvSpPr txBox="1"/>
          <p:nvPr/>
        </p:nvSpPr>
        <p:spPr>
          <a:xfrm>
            <a:off x="3291840" y="4014216"/>
            <a:ext cx="8138160" cy="603504"/>
          </a:xfrm>
          <a:prstGeom prst="rect">
            <a:avLst/>
          </a:prstGeom>
          <a:noFill/>
          <a:ln/>
        </p:spPr>
        <p:txBody>
          <a:bodyPr wrap="square" lIns="0" tIns="0" rIns="0" bIns="0" rtlCol="0" anchor="ctr"/>
          <a:lstStyle/>
          <a:p>
            <a:pPr marL="0" indent="0">
              <a:buNone/>
            </a:pPr>
            <a:r>
              <a:rPr lang="en-US" sz="1350" dirty="0">
                <a:solidFill>
                  <a:srgbClr val="1B2B2C"/>
                </a:solidFill>
                <a:latin typeface="Calibri" pitchFamily="34" charset="0"/>
                <a:ea typeface="Calibri" pitchFamily="34" charset="-122"/>
                <a:cs typeface="Calibri" pitchFamily="34" charset="-120"/>
              </a:rPr>
              <a:t>Evidence strongly supports Myocardial Infarction</a:t>
            </a:r>
            <a:endParaRPr lang="en-US" sz="1350" dirty="0"/>
          </a:p>
        </p:txBody>
      </p:sp>
      <p:sp>
        <p:nvSpPr>
          <p:cNvPr id="20" name="Shape 18"/>
          <p:cNvSpPr/>
          <p:nvPr/>
        </p:nvSpPr>
        <p:spPr>
          <a:xfrm>
            <a:off x="548640" y="4727448"/>
            <a:ext cx="2377440" cy="603504"/>
          </a:xfrm>
          <a:prstGeom prst="roundRect">
            <a:avLst>
              <a:gd name="adj" fmla="val 9091"/>
            </a:avLst>
          </a:prstGeom>
          <a:solidFill>
            <a:srgbClr val="028090"/>
          </a:solidFill>
          <a:ln/>
        </p:spPr>
      </p:sp>
      <p:sp>
        <p:nvSpPr>
          <p:cNvPr id="21" name="Text 19"/>
          <p:cNvSpPr txBox="1"/>
          <p:nvPr/>
        </p:nvSpPr>
        <p:spPr>
          <a:xfrm>
            <a:off x="548640" y="4727448"/>
            <a:ext cx="2377440" cy="60350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Treatment Goal</a:t>
            </a:r>
            <a:endParaRPr lang="en-US" sz="1300" dirty="0"/>
          </a:p>
        </p:txBody>
      </p:sp>
      <p:sp>
        <p:nvSpPr>
          <p:cNvPr id="22" name="Shape 20"/>
          <p:cNvSpPr/>
          <p:nvPr/>
        </p:nvSpPr>
        <p:spPr>
          <a:xfrm>
            <a:off x="3063240" y="4727448"/>
            <a:ext cx="8595360" cy="603504"/>
          </a:xfrm>
          <a:prstGeom prst="roundRect">
            <a:avLst>
              <a:gd name="adj" fmla="val 9091"/>
            </a:avLst>
          </a:prstGeom>
          <a:solidFill>
            <a:srgbClr val="F0F7F6"/>
          </a:solidFill>
          <a:ln w="9525">
            <a:solidFill>
              <a:srgbClr val="E4EFED"/>
            </a:solidFill>
            <a:prstDash val="solid"/>
          </a:ln>
        </p:spPr>
      </p:sp>
      <p:sp>
        <p:nvSpPr>
          <p:cNvPr id="23" name="Text 21"/>
          <p:cNvSpPr txBox="1"/>
          <p:nvPr/>
        </p:nvSpPr>
        <p:spPr>
          <a:xfrm>
            <a:off x="3291840" y="4727448"/>
            <a:ext cx="8138160" cy="603504"/>
          </a:xfrm>
          <a:prstGeom prst="rect">
            <a:avLst/>
          </a:prstGeom>
          <a:noFill/>
          <a:ln/>
        </p:spPr>
        <p:txBody>
          <a:bodyPr wrap="square" lIns="0" tIns="0" rIns="0" bIns="0" rtlCol="0" anchor="ctr"/>
          <a:lstStyle/>
          <a:p>
            <a:pPr marL="0" indent="0">
              <a:buNone/>
            </a:pPr>
            <a:r>
              <a:rPr lang="en-US" sz="1350" dirty="0">
                <a:solidFill>
                  <a:srgbClr val="1B2B2C"/>
                </a:solidFill>
                <a:latin typeface="Calibri" pitchFamily="34" charset="0"/>
                <a:ea typeface="Calibri" pitchFamily="34" charset="-122"/>
                <a:cs typeface="Calibri" pitchFamily="34" charset="-120"/>
              </a:rPr>
              <a:t>Best possible recovery outcome, minimal risk</a:t>
            </a:r>
            <a:endParaRPr lang="en-US" sz="1350" dirty="0"/>
          </a:p>
        </p:txBody>
      </p:sp>
      <p:sp>
        <p:nvSpPr>
          <p:cNvPr id="24" name="Shape 22"/>
          <p:cNvSpPr/>
          <p:nvPr/>
        </p:nvSpPr>
        <p:spPr>
          <a:xfrm>
            <a:off x="548640" y="5440680"/>
            <a:ext cx="2377440" cy="603504"/>
          </a:xfrm>
          <a:prstGeom prst="roundRect">
            <a:avLst>
              <a:gd name="adj" fmla="val 9091"/>
            </a:avLst>
          </a:prstGeom>
          <a:solidFill>
            <a:srgbClr val="028090"/>
          </a:solidFill>
          <a:ln/>
        </p:spPr>
      </p:sp>
      <p:sp>
        <p:nvSpPr>
          <p:cNvPr id="25" name="Text 23"/>
          <p:cNvSpPr txBox="1"/>
          <p:nvPr/>
        </p:nvSpPr>
        <p:spPr>
          <a:xfrm>
            <a:off x="548640" y="5440680"/>
            <a:ext cx="2377440" cy="60350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Action Selected</a:t>
            </a:r>
            <a:endParaRPr lang="en-US" sz="1300" dirty="0"/>
          </a:p>
        </p:txBody>
      </p:sp>
      <p:sp>
        <p:nvSpPr>
          <p:cNvPr id="26" name="Shape 24"/>
          <p:cNvSpPr/>
          <p:nvPr/>
        </p:nvSpPr>
        <p:spPr>
          <a:xfrm>
            <a:off x="3063240" y="5440680"/>
            <a:ext cx="8595360" cy="603504"/>
          </a:xfrm>
          <a:prstGeom prst="roundRect">
            <a:avLst>
              <a:gd name="adj" fmla="val 9091"/>
            </a:avLst>
          </a:prstGeom>
          <a:solidFill>
            <a:srgbClr val="FFFFFF"/>
          </a:solidFill>
          <a:ln w="9525">
            <a:solidFill>
              <a:srgbClr val="E4EFED"/>
            </a:solidFill>
            <a:prstDash val="solid"/>
          </a:ln>
        </p:spPr>
      </p:sp>
      <p:sp>
        <p:nvSpPr>
          <p:cNvPr id="27" name="Text 25"/>
          <p:cNvSpPr txBox="1"/>
          <p:nvPr/>
        </p:nvSpPr>
        <p:spPr>
          <a:xfrm>
            <a:off x="3291840" y="5440680"/>
            <a:ext cx="8138160" cy="603504"/>
          </a:xfrm>
          <a:prstGeom prst="rect">
            <a:avLst/>
          </a:prstGeom>
          <a:noFill/>
          <a:ln/>
        </p:spPr>
        <p:txBody>
          <a:bodyPr wrap="square" lIns="0" tIns="0" rIns="0" bIns="0" rtlCol="0" anchor="ctr"/>
          <a:lstStyle/>
          <a:p>
            <a:pPr marL="0" indent="0">
              <a:buNone/>
            </a:pPr>
            <a:r>
              <a:rPr lang="en-US" sz="1350" dirty="0">
                <a:solidFill>
                  <a:srgbClr val="1B2B2C"/>
                </a:solidFill>
                <a:latin typeface="Calibri" pitchFamily="34" charset="0"/>
                <a:ea typeface="Calibri" pitchFamily="34" charset="-122"/>
                <a:cs typeface="Calibri" pitchFamily="34" charset="-120"/>
              </a:rPr>
              <a:t>Recommend immediate angioplasty</a:t>
            </a:r>
            <a:endParaRPr lang="en-US" sz="1350" dirty="0"/>
          </a:p>
        </p:txBody>
      </p:sp>
      <p:sp>
        <p:nvSpPr>
          <p:cNvPr id="28" name="Text 26"/>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12</a:t>
            </a:r>
            <a:endParaRPr lang="en-US" sz="1000" dirty="0"/>
          </a:p>
        </p:txBody>
      </p:sp>
      <p:sp>
        <p:nvSpPr>
          <p:cNvPr id="29" name="Text 27"/>
          <p:cNvSpPr txBox="1"/>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5B6E70"/>
                </a:solidFill>
                <a:latin typeface="Calibri" pitchFamily="34" charset="0"/>
                <a:ea typeface="Calibri" pitchFamily="34" charset="-122"/>
                <a:cs typeface="Calibri" pitchFamily="34" charset="-120"/>
              </a:rPr>
              <a:t>Goal-Based Agent in Healthcare Diagnosis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a:ln/>
        </p:spPr>
        <p:txBody>
          <a:bodyPr wrap="square" lIns="0" tIns="0" rIns="0" bIns="0" rtlCol="0" anchor="ctr"/>
          <a:lstStyle/>
          <a:p>
            <a:pPr marL="0" indent="0">
              <a:buNone/>
            </a:pPr>
            <a:r>
              <a:rPr lang="en-US" sz="3000" b="1" dirty="0">
                <a:solidFill>
                  <a:srgbClr val="1B2B2C"/>
                </a:solidFill>
                <a:latin typeface="Cambria" pitchFamily="34" charset="0"/>
                <a:ea typeface="Cambria" pitchFamily="34" charset="-122"/>
                <a:cs typeface="Cambria" pitchFamily="34" charset="-120"/>
              </a:rPr>
              <a:t>Advantages &amp; Limitations</a:t>
            </a:r>
            <a:endParaRPr lang="en-US" sz="3000" dirty="0"/>
          </a:p>
        </p:txBody>
      </p:sp>
      <p:sp>
        <p:nvSpPr>
          <p:cNvPr id="3" name="Shape 1"/>
          <p:cNvSpPr/>
          <p:nvPr/>
        </p:nvSpPr>
        <p:spPr>
          <a:xfrm>
            <a:off x="548640" y="1828800"/>
            <a:ext cx="5394960" cy="4114800"/>
          </a:xfrm>
          <a:prstGeom prst="roundRect">
            <a:avLst>
              <a:gd name="adj" fmla="val 1778"/>
            </a:avLst>
          </a:prstGeom>
          <a:solidFill>
            <a:srgbClr val="E4F7F4"/>
          </a:solidFill>
          <a:ln/>
          <a:effectLst>
            <a:outerShdw blurRad="76200" dist="25400" dir="5400000" algn="bl" rotWithShape="0">
              <a:srgbClr val="5B6E70">
                <a:alpha val="18000"/>
              </a:srgbClr>
            </a:outerShdw>
          </a:effectLst>
        </p:spPr>
      </p:sp>
      <p:sp>
        <p:nvSpPr>
          <p:cNvPr id="4" name="Text 2"/>
          <p:cNvSpPr txBox="1"/>
          <p:nvPr/>
        </p:nvSpPr>
        <p:spPr>
          <a:xfrm>
            <a:off x="822960" y="2057400"/>
            <a:ext cx="4846320" cy="365760"/>
          </a:xfrm>
          <a:prstGeom prst="rect">
            <a:avLst/>
          </a:prstGeom>
          <a:noFill/>
          <a:ln/>
        </p:spPr>
        <p:txBody>
          <a:bodyPr wrap="square" lIns="0" tIns="0" rIns="0" bIns="0"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  ADVANTAGES</a:t>
            </a:r>
            <a:endParaRPr lang="en-US" sz="1600" dirty="0"/>
          </a:p>
        </p:txBody>
      </p:sp>
      <p:sp>
        <p:nvSpPr>
          <p:cNvPr id="5" name="Text 3"/>
          <p:cNvSpPr txBox="1"/>
          <p:nvPr/>
        </p:nvSpPr>
        <p:spPr>
          <a:xfrm>
            <a:off x="822960" y="2514600"/>
            <a:ext cx="4846320" cy="3200400"/>
          </a:xfrm>
          <a:prstGeom prst="rect">
            <a:avLst/>
          </a:prstGeom>
          <a:noFill/>
          <a:ln/>
        </p:spPr>
        <p:txBody>
          <a:bodyPr wrap="square" lIns="0" tIns="0" rIns="0" bIns="0" rtlCol="0" anchor="t"/>
          <a:lstStyle/>
          <a:p>
            <a:pPr marL="228600" indent="-228600">
              <a:lnSpc>
                <a:spcPct val="108000"/>
              </a:lnSpc>
              <a:spcAft>
                <a:spcPts val="1200"/>
              </a:spcAft>
              <a:buSzPct val="100000"/>
              <a:buChar char="•"/>
            </a:pPr>
            <a:r>
              <a:rPr lang="en-US" sz="1350" dirty="0">
                <a:solidFill>
                  <a:srgbClr val="1B2B2C"/>
                </a:solidFill>
                <a:latin typeface="Calibri" pitchFamily="34" charset="0"/>
                <a:ea typeface="Calibri" pitchFamily="34" charset="-122"/>
                <a:cs typeface="Calibri" pitchFamily="34" charset="-120"/>
              </a:rPr>
              <a:t>Proactive — plans ahead instead of just reacting to symptoms</a:t>
            </a:r>
            <a:endParaRPr lang="en-US" sz="1350" dirty="0"/>
          </a:p>
          <a:p>
            <a:pPr marL="228600" indent="-228600">
              <a:lnSpc>
                <a:spcPct val="108000"/>
              </a:lnSpc>
              <a:spcAft>
                <a:spcPts val="1200"/>
              </a:spcAft>
              <a:buSzPct val="100000"/>
              <a:buChar char="•"/>
            </a:pPr>
            <a:r>
              <a:rPr lang="en-US" sz="1350" dirty="0">
                <a:solidFill>
                  <a:srgbClr val="1B2B2C"/>
                </a:solidFill>
                <a:latin typeface="Calibri" pitchFamily="34" charset="0"/>
                <a:ea typeface="Calibri" pitchFamily="34" charset="-122"/>
                <a:cs typeface="Calibri" pitchFamily="34" charset="-120"/>
              </a:rPr>
              <a:t>Handles complex, multi-step diagnostic reasoning well</a:t>
            </a:r>
            <a:endParaRPr lang="en-US" sz="1350" dirty="0"/>
          </a:p>
          <a:p>
            <a:pPr marL="228600" indent="-228600">
              <a:lnSpc>
                <a:spcPct val="108000"/>
              </a:lnSpc>
              <a:spcAft>
                <a:spcPts val="1200"/>
              </a:spcAft>
              <a:buSzPct val="100000"/>
              <a:buChar char="•"/>
            </a:pPr>
            <a:r>
              <a:rPr lang="en-US" sz="1350" dirty="0">
                <a:solidFill>
                  <a:srgbClr val="1B2B2C"/>
                </a:solidFill>
                <a:latin typeface="Calibri" pitchFamily="34" charset="0"/>
                <a:ea typeface="Calibri" pitchFamily="34" charset="-122"/>
                <a:cs typeface="Calibri" pitchFamily="34" charset="-120"/>
              </a:rPr>
              <a:t>Goals can be updated as new evidence arrives (flexible)</a:t>
            </a:r>
            <a:endParaRPr lang="en-US" sz="1350" dirty="0"/>
          </a:p>
          <a:p>
            <a:pPr marL="228600" indent="-228600">
              <a:lnSpc>
                <a:spcPct val="108000"/>
              </a:lnSpc>
              <a:spcAft>
                <a:spcPts val="1200"/>
              </a:spcAft>
              <a:buSzPct val="100000"/>
              <a:buChar char="•"/>
            </a:pPr>
            <a:r>
              <a:rPr lang="en-US" sz="1350" dirty="0">
                <a:solidFill>
                  <a:srgbClr val="1B2B2C"/>
                </a:solidFill>
                <a:latin typeface="Calibri" pitchFamily="34" charset="0"/>
                <a:ea typeface="Calibri" pitchFamily="34" charset="-122"/>
                <a:cs typeface="Calibri" pitchFamily="34" charset="-120"/>
              </a:rPr>
              <a:t>Reduces missed steps by systematically working toward an outcome</a:t>
            </a:r>
            <a:endParaRPr lang="en-US" sz="1350" dirty="0"/>
          </a:p>
        </p:txBody>
      </p:sp>
      <p:sp>
        <p:nvSpPr>
          <p:cNvPr id="6" name="Shape 4"/>
          <p:cNvSpPr/>
          <p:nvPr/>
        </p:nvSpPr>
        <p:spPr>
          <a:xfrm>
            <a:off x="6217920" y="1828800"/>
            <a:ext cx="5394960" cy="4114800"/>
          </a:xfrm>
          <a:prstGeom prst="roundRect">
            <a:avLst>
              <a:gd name="adj" fmla="val 1778"/>
            </a:avLst>
          </a:prstGeom>
          <a:solidFill>
            <a:srgbClr val="FBECEC"/>
          </a:solidFill>
          <a:ln/>
          <a:effectLst>
            <a:outerShdw blurRad="76200" dist="25400" dir="5400000" algn="bl" rotWithShape="0">
              <a:srgbClr val="5B6E70">
                <a:alpha val="18000"/>
              </a:srgbClr>
            </a:outerShdw>
          </a:effectLst>
        </p:spPr>
      </p:sp>
      <p:sp>
        <p:nvSpPr>
          <p:cNvPr id="7" name="Text 5"/>
          <p:cNvSpPr txBox="1"/>
          <p:nvPr/>
        </p:nvSpPr>
        <p:spPr>
          <a:xfrm>
            <a:off x="6492240" y="2057400"/>
            <a:ext cx="4846320" cy="365760"/>
          </a:xfrm>
          <a:prstGeom prst="rect">
            <a:avLst/>
          </a:prstGeom>
          <a:noFill/>
          <a:ln/>
        </p:spPr>
        <p:txBody>
          <a:bodyPr wrap="square" lIns="0" tIns="0" rIns="0" bIns="0" rtlCol="0" anchor="ctr"/>
          <a:lstStyle/>
          <a:p>
            <a:pPr marL="0" indent="0">
              <a:buNone/>
            </a:pPr>
            <a:r>
              <a:rPr lang="en-US" sz="1600" b="1" dirty="0">
                <a:solidFill>
                  <a:srgbClr val="B03A2E"/>
                </a:solidFill>
                <a:latin typeface="Cambria" pitchFamily="34" charset="0"/>
                <a:ea typeface="Cambria" pitchFamily="34" charset="-122"/>
                <a:cs typeface="Cambria" pitchFamily="34" charset="-120"/>
              </a:rPr>
              <a:t>!  LIMITATIONS</a:t>
            </a:r>
            <a:endParaRPr lang="en-US" sz="1600" dirty="0"/>
          </a:p>
        </p:txBody>
      </p:sp>
      <p:sp>
        <p:nvSpPr>
          <p:cNvPr id="8" name="Text 6"/>
          <p:cNvSpPr txBox="1"/>
          <p:nvPr/>
        </p:nvSpPr>
        <p:spPr>
          <a:xfrm>
            <a:off x="6492240" y="2514600"/>
            <a:ext cx="4846320" cy="3200400"/>
          </a:xfrm>
          <a:prstGeom prst="rect">
            <a:avLst/>
          </a:prstGeom>
          <a:noFill/>
          <a:ln/>
        </p:spPr>
        <p:txBody>
          <a:bodyPr wrap="square" lIns="0" tIns="0" rIns="0" bIns="0" rtlCol="0" anchor="t"/>
          <a:lstStyle/>
          <a:p>
            <a:pPr marL="228600" indent="-228600">
              <a:lnSpc>
                <a:spcPct val="108000"/>
              </a:lnSpc>
              <a:spcAft>
                <a:spcPts val="1200"/>
              </a:spcAft>
              <a:buSzPct val="100000"/>
              <a:buChar char="•"/>
            </a:pPr>
            <a:r>
              <a:rPr lang="en-US" sz="1350" dirty="0">
                <a:solidFill>
                  <a:srgbClr val="1B2B2C"/>
                </a:solidFill>
                <a:latin typeface="Calibri" pitchFamily="34" charset="0"/>
                <a:ea typeface="Calibri" pitchFamily="34" charset="-122"/>
                <a:cs typeface="Calibri" pitchFamily="34" charset="-120"/>
              </a:rPr>
              <a:t>Computationally expensive — searching many paths takes time</a:t>
            </a:r>
            <a:endParaRPr lang="en-US" sz="1350" dirty="0"/>
          </a:p>
          <a:p>
            <a:pPr marL="228600" indent="-228600">
              <a:lnSpc>
                <a:spcPct val="108000"/>
              </a:lnSpc>
              <a:spcAft>
                <a:spcPts val="1200"/>
              </a:spcAft>
              <a:buSzPct val="100000"/>
              <a:buChar char="•"/>
            </a:pPr>
            <a:r>
              <a:rPr lang="en-US" sz="1350" dirty="0">
                <a:solidFill>
                  <a:srgbClr val="1B2B2C"/>
                </a:solidFill>
                <a:latin typeface="Calibri" pitchFamily="34" charset="0"/>
                <a:ea typeface="Calibri" pitchFamily="34" charset="-122"/>
                <a:cs typeface="Calibri" pitchFamily="34" charset="-120"/>
              </a:rPr>
              <a:t>Needs high-quality, well-structured patient data to work reliably</a:t>
            </a:r>
            <a:endParaRPr lang="en-US" sz="1350" dirty="0"/>
          </a:p>
          <a:p>
            <a:pPr marL="228600" indent="-228600">
              <a:lnSpc>
                <a:spcPct val="108000"/>
              </a:lnSpc>
              <a:spcAft>
                <a:spcPts val="1200"/>
              </a:spcAft>
              <a:buSzPct val="100000"/>
              <a:buChar char="•"/>
            </a:pPr>
            <a:r>
              <a:rPr lang="en-US" sz="1350" dirty="0">
                <a:solidFill>
                  <a:srgbClr val="1B2B2C"/>
                </a:solidFill>
                <a:latin typeface="Calibri" pitchFamily="34" charset="0"/>
                <a:ea typeface="Calibri" pitchFamily="34" charset="-122"/>
                <a:cs typeface="Calibri" pitchFamily="34" charset="-120"/>
              </a:rPr>
              <a:t>Doesn't inherently rank "how good" each option is (that needs a utility-based extension)</a:t>
            </a:r>
            <a:endParaRPr lang="en-US" sz="1350" dirty="0"/>
          </a:p>
          <a:p>
            <a:pPr marL="228600" indent="-228600">
              <a:lnSpc>
                <a:spcPct val="108000"/>
              </a:lnSpc>
              <a:spcAft>
                <a:spcPts val="1200"/>
              </a:spcAft>
              <a:buSzPct val="100000"/>
              <a:buChar char="•"/>
            </a:pPr>
            <a:r>
              <a:rPr lang="en-US" sz="1350" dirty="0">
                <a:solidFill>
                  <a:srgbClr val="1B2B2C"/>
                </a:solidFill>
                <a:latin typeface="Calibri" pitchFamily="34" charset="0"/>
                <a:ea typeface="Calibri" pitchFamily="34" charset="-122"/>
                <a:cs typeface="Calibri" pitchFamily="34" charset="-120"/>
              </a:rPr>
              <a:t>Raises ethical and liability questions — a human clinician must stay in the loop</a:t>
            </a:r>
            <a:endParaRPr lang="en-US" sz="1350" dirty="0"/>
          </a:p>
        </p:txBody>
      </p:sp>
      <p:sp>
        <p:nvSpPr>
          <p:cNvPr id="9" name="Text 7"/>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5B6E70"/>
                </a:solidFill>
                <a:latin typeface="Calibri" pitchFamily="34" charset="0"/>
                <a:ea typeface="Calibri" pitchFamily="34" charset="-122"/>
                <a:cs typeface="Calibri" pitchFamily="34" charset="-120"/>
              </a:rPr>
              <a:t>13</a:t>
            </a:r>
            <a:endParaRPr lang="en-US" sz="1000" dirty="0"/>
          </a:p>
        </p:txBody>
      </p:sp>
      <p:sp>
        <p:nvSpPr>
          <p:cNvPr id="10" name="Text 8"/>
          <p:cNvSpPr txBox="1"/>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5B6E70"/>
                </a:solidFill>
                <a:latin typeface="Calibri" pitchFamily="34" charset="0"/>
                <a:ea typeface="Calibri" pitchFamily="34" charset="-122"/>
                <a:cs typeface="Calibri" pitchFamily="34" charset="-120"/>
              </a:rPr>
              <a:t>Goal-Based Agent in Healthcare Diagnosis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E33"/>
        </a:solidFill>
        <a:effectLst/>
      </p:bgPr>
    </p:bg>
    <p:spTree>
      <p:nvGrpSpPr>
        <p:cNvPr id="1" name=""/>
        <p:cNvGrpSpPr/>
        <p:nvPr/>
      </p:nvGrpSpPr>
      <p:grpSpPr>
        <a:xfrm>
          <a:off x="0" y="0"/>
          <a:ext cx="0" cy="0"/>
          <a:chOff x="0" y="0"/>
          <a:chExt cx="0" cy="0"/>
        </a:xfrm>
      </p:grpSpPr>
      <p:sp>
        <p:nvSpPr>
          <p:cNvPr id="3" name="Text 1"/>
          <p:cNvSpPr txBox="1"/>
          <p:nvPr/>
        </p:nvSpPr>
        <p:spPr>
          <a:xfrm>
            <a:off x="731520" y="685800"/>
            <a:ext cx="914400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Key Takeaways</a:t>
            </a:r>
            <a:endParaRPr lang="en-US" sz="3400" dirty="0"/>
          </a:p>
        </p:txBody>
      </p:sp>
      <p:sp>
        <p:nvSpPr>
          <p:cNvPr id="4" name="Shape 2"/>
          <p:cNvSpPr/>
          <p:nvPr/>
        </p:nvSpPr>
        <p:spPr>
          <a:xfrm>
            <a:off x="731520" y="1691640"/>
            <a:ext cx="457200" cy="457200"/>
          </a:xfrm>
          <a:prstGeom prst="ellipse">
            <a:avLst/>
          </a:prstGeom>
          <a:solidFill>
            <a:srgbClr val="02C39A"/>
          </a:solidFill>
          <a:ln/>
        </p:spPr>
      </p:sp>
      <p:sp>
        <p:nvSpPr>
          <p:cNvPr id="5" name="Text 3"/>
          <p:cNvSpPr txBox="1"/>
          <p:nvPr/>
        </p:nvSpPr>
        <p:spPr>
          <a:xfrm>
            <a:off x="731520" y="16916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417320" y="1645920"/>
            <a:ext cx="10058400" cy="777240"/>
          </a:xfrm>
          <a:prstGeom prst="rect">
            <a:avLst/>
          </a:prstGeom>
          <a:noFill/>
          <a:ln/>
        </p:spPr>
        <p:txBody>
          <a:bodyPr wrap="square" lIns="0" tIns="0" rIns="0" bIns="0" rtlCol="0" anchor="ctr"/>
          <a:lstStyle/>
          <a:p>
            <a:pPr marL="0" indent="0">
              <a:lnSpc>
                <a:spcPct val="115000"/>
              </a:lnSpc>
              <a:buNone/>
            </a:pPr>
            <a:r>
              <a:rPr lang="en-US" sz="1550" dirty="0">
                <a:solidFill>
                  <a:srgbClr val="E4F7F4"/>
                </a:solidFill>
                <a:latin typeface="Calibri" pitchFamily="34" charset="0"/>
                <a:ea typeface="Calibri" pitchFamily="34" charset="-122"/>
                <a:cs typeface="Calibri" pitchFamily="34" charset="-120"/>
              </a:rPr>
              <a:t>A goal-based agent chooses actions by looking ahead to a target outcome — not just reacting.</a:t>
            </a:r>
            <a:endParaRPr lang="en-US" sz="1550" dirty="0"/>
          </a:p>
        </p:txBody>
      </p:sp>
      <p:sp>
        <p:nvSpPr>
          <p:cNvPr id="7" name="Shape 5"/>
          <p:cNvSpPr/>
          <p:nvPr/>
        </p:nvSpPr>
        <p:spPr>
          <a:xfrm>
            <a:off x="731520" y="2651760"/>
            <a:ext cx="457200" cy="457200"/>
          </a:xfrm>
          <a:prstGeom prst="ellipse">
            <a:avLst/>
          </a:prstGeom>
          <a:solidFill>
            <a:srgbClr val="02C39A"/>
          </a:solidFill>
          <a:ln/>
        </p:spPr>
      </p:sp>
      <p:sp>
        <p:nvSpPr>
          <p:cNvPr id="8" name="Text 6"/>
          <p:cNvSpPr txBox="1"/>
          <p:nvPr/>
        </p:nvSpPr>
        <p:spPr>
          <a:xfrm>
            <a:off x="731520" y="2651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1417320" y="2606040"/>
            <a:ext cx="10058400" cy="777240"/>
          </a:xfrm>
          <a:prstGeom prst="rect">
            <a:avLst/>
          </a:prstGeom>
          <a:noFill/>
          <a:ln/>
        </p:spPr>
        <p:txBody>
          <a:bodyPr wrap="square" lIns="0" tIns="0" rIns="0" bIns="0" rtlCol="0" anchor="ctr"/>
          <a:lstStyle/>
          <a:p>
            <a:pPr marL="0" indent="0">
              <a:lnSpc>
                <a:spcPct val="115000"/>
              </a:lnSpc>
              <a:buNone/>
            </a:pPr>
            <a:r>
              <a:rPr lang="en-US" sz="1550" dirty="0">
                <a:solidFill>
                  <a:srgbClr val="E4F7F4"/>
                </a:solidFill>
                <a:latin typeface="Calibri" pitchFamily="34" charset="0"/>
                <a:ea typeface="Calibri" pitchFamily="34" charset="-122"/>
                <a:cs typeface="Calibri" pitchFamily="34" charset="-120"/>
              </a:rPr>
              <a:t>In healthcare, the goal shifts through the journey: diagnose → confirm → treat.</a:t>
            </a:r>
            <a:endParaRPr lang="en-US" sz="1550" dirty="0"/>
          </a:p>
        </p:txBody>
      </p:sp>
      <p:sp>
        <p:nvSpPr>
          <p:cNvPr id="10" name="Shape 8"/>
          <p:cNvSpPr/>
          <p:nvPr/>
        </p:nvSpPr>
        <p:spPr>
          <a:xfrm>
            <a:off x="731520" y="3611880"/>
            <a:ext cx="457200" cy="457200"/>
          </a:xfrm>
          <a:prstGeom prst="ellipse">
            <a:avLst/>
          </a:prstGeom>
          <a:solidFill>
            <a:srgbClr val="02C39A"/>
          </a:solidFill>
          <a:ln/>
        </p:spPr>
      </p:sp>
      <p:sp>
        <p:nvSpPr>
          <p:cNvPr id="11" name="Text 9"/>
          <p:cNvSpPr txBox="1"/>
          <p:nvPr/>
        </p:nvSpPr>
        <p:spPr>
          <a:xfrm>
            <a:off x="731520" y="36118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2" name="Text 10"/>
          <p:cNvSpPr txBox="1"/>
          <p:nvPr/>
        </p:nvSpPr>
        <p:spPr>
          <a:xfrm>
            <a:off x="1417320" y="3566160"/>
            <a:ext cx="10058400" cy="777240"/>
          </a:xfrm>
          <a:prstGeom prst="rect">
            <a:avLst/>
          </a:prstGeom>
          <a:noFill/>
          <a:ln/>
        </p:spPr>
        <p:txBody>
          <a:bodyPr wrap="square" lIns="0" tIns="0" rIns="0" bIns="0" rtlCol="0" anchor="ctr"/>
          <a:lstStyle/>
          <a:p>
            <a:pPr marL="0" indent="0">
              <a:lnSpc>
                <a:spcPct val="115000"/>
              </a:lnSpc>
              <a:buNone/>
            </a:pPr>
            <a:r>
              <a:rPr lang="en-US" sz="1550" dirty="0">
                <a:solidFill>
                  <a:srgbClr val="E4F7F4"/>
                </a:solidFill>
                <a:latin typeface="Calibri" pitchFamily="34" charset="0"/>
                <a:ea typeface="Calibri" pitchFamily="34" charset="-122"/>
                <a:cs typeface="Calibri" pitchFamily="34" charset="-120"/>
              </a:rPr>
              <a:t>It leans on a real data pipeline and decision logic (rules, probability, ML) to reason under uncertainty.</a:t>
            </a:r>
            <a:endParaRPr lang="en-US" sz="1550" dirty="0"/>
          </a:p>
        </p:txBody>
      </p:sp>
      <p:sp>
        <p:nvSpPr>
          <p:cNvPr id="13" name="Shape 11"/>
          <p:cNvSpPr/>
          <p:nvPr/>
        </p:nvSpPr>
        <p:spPr>
          <a:xfrm>
            <a:off x="731520" y="4572000"/>
            <a:ext cx="457200" cy="457200"/>
          </a:xfrm>
          <a:prstGeom prst="ellipse">
            <a:avLst/>
          </a:prstGeom>
          <a:solidFill>
            <a:srgbClr val="02C39A"/>
          </a:solidFill>
          <a:ln/>
        </p:spPr>
      </p:sp>
      <p:sp>
        <p:nvSpPr>
          <p:cNvPr id="14" name="Text 12"/>
          <p:cNvSpPr txBox="1"/>
          <p:nvPr/>
        </p:nvSpPr>
        <p:spPr>
          <a:xfrm>
            <a:off x="731520" y="4572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5" name="Text 13"/>
          <p:cNvSpPr txBox="1"/>
          <p:nvPr/>
        </p:nvSpPr>
        <p:spPr>
          <a:xfrm>
            <a:off x="1417320" y="4526280"/>
            <a:ext cx="10058400" cy="777240"/>
          </a:xfrm>
          <a:prstGeom prst="rect">
            <a:avLst/>
          </a:prstGeom>
          <a:noFill/>
          <a:ln/>
        </p:spPr>
        <p:txBody>
          <a:bodyPr wrap="square" lIns="0" tIns="0" rIns="0" bIns="0" rtlCol="0" anchor="ctr"/>
          <a:lstStyle/>
          <a:p>
            <a:pPr marL="0" indent="0">
              <a:lnSpc>
                <a:spcPct val="115000"/>
              </a:lnSpc>
              <a:buNone/>
            </a:pPr>
            <a:r>
              <a:rPr lang="en-US" sz="1550" dirty="0">
                <a:solidFill>
                  <a:srgbClr val="E4F7F4"/>
                </a:solidFill>
                <a:latin typeface="Calibri" pitchFamily="34" charset="0"/>
                <a:ea typeface="Calibri" pitchFamily="34" charset="-122"/>
                <a:cs typeface="Calibri" pitchFamily="34" charset="-120"/>
              </a:rPr>
              <a:t>It's powerful for complex, multi-step medical reasoning — but works best alongside human clinicians.</a:t>
            </a:r>
            <a:endParaRPr lang="en-US" sz="1550" dirty="0"/>
          </a:p>
        </p:txBody>
      </p:sp>
      <p:sp>
        <p:nvSpPr>
          <p:cNvPr id="16" name="Text 14"/>
          <p:cNvSpPr txBox="1"/>
          <p:nvPr/>
        </p:nvSpPr>
        <p:spPr>
          <a:xfrm>
            <a:off x="731520" y="5806440"/>
            <a:ext cx="9144000" cy="5486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Thank you! Questions?</a:t>
            </a:r>
            <a:endParaRPr lang="en-US" sz="2000" dirty="0"/>
          </a:p>
        </p:txBody>
      </p:sp>
      <p:sp>
        <p:nvSpPr>
          <p:cNvPr id="17" name="Text 15"/>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1000" dirty="0">
                <a:solidFill>
                  <a:srgbClr val="9FC9C6"/>
                </a:solidFill>
                <a:latin typeface="Calibri" pitchFamily="34" charset="0"/>
                <a:ea typeface="Calibri" pitchFamily="34" charset="-122"/>
                <a:cs typeface="Calibri" pitchFamily="34" charset="-120"/>
              </a:rPr>
              <a:t>14</a:t>
            </a:r>
            <a:endParaRPr lang="en-US" sz="1000" dirty="0"/>
          </a:p>
        </p:txBody>
      </p:sp>
      <p:sp>
        <p:nvSpPr>
          <p:cNvPr id="18" name="Text 16"/>
          <p:cNvSpPr txBox="1"/>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9FC9C6"/>
                </a:solidFill>
                <a:latin typeface="Calibri" pitchFamily="34" charset="0"/>
                <a:ea typeface="Calibri" pitchFamily="34" charset="-122"/>
                <a:cs typeface="Calibri" pitchFamily="34" charset="-120"/>
              </a:rPr>
              <a:t>Goal-Based Agent in Healthcare Diagnosis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2551</Words>
  <Application>Microsoft Office PowerPoint</Application>
  <PresentationFormat>Widescreen</PresentationFormat>
  <Paragraphs>228</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bhupalamhyndavi@gmail.com</cp:lastModifiedBy>
  <cp:revision>3</cp:revision>
  <dcterms:created xsi:type="dcterms:W3CDTF">2026-08-26T03:12:13Z</dcterms:created>
  <dcterms:modified xsi:type="dcterms:W3CDTF">2026-08-28T04:45:22Z</dcterms:modified>
</cp:coreProperties>
</file>